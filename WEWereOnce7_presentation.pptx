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Inter"/>
      <p:bold r:id="rId21"/>
      <p:boldItalic r:id="rId22"/>
    </p:embeddedFont>
    <p:embeddedFont>
      <p:font typeface="Nunito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bold.fntdata"/><Relationship Id="rId24" Type="http://schemas.openxmlformats.org/officeDocument/2006/relationships/font" Target="fonts/NunitoMedium-bold.fntdata"/><Relationship Id="rId23" Type="http://schemas.openxmlformats.org/officeDocument/2006/relationships/font" Target="fonts/Nunito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NunitoMedium-boldItalic.fntdata"/><Relationship Id="rId25" Type="http://schemas.openxmlformats.org/officeDocument/2006/relationships/font" Target="fonts/Nunito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Nunito-regular.fntdata"/><Relationship Id="rId16" Type="http://schemas.openxmlformats.org/officeDocument/2006/relationships/slide" Target="slides/slide10.xml"/><Relationship Id="rId19" Type="http://schemas.openxmlformats.org/officeDocument/2006/relationships/font" Target="fonts/Nunito-italic.fntdata"/><Relationship Id="rId1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76c68fa5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76c68fa5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76c68fa5e_6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76c68fa5e_6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8f85537d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8f85537d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 a dashboard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76c68fa5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76c68fa5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76c68fa5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976c68fa5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 a dashboard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76c68fa5e_6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76c68fa5e_6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76c68fa5e_17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976c68fa5e_17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add a dashboard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76c68fa5e_6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76c68fa5e_6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976c68fa5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976c68fa5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venir"/>
              <a:buChar char="●"/>
              <a:def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nir"/>
              <a:buChar char="○"/>
              <a:defRPr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nir"/>
              <a:buChar char="■"/>
              <a:defRPr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nir"/>
              <a:buChar char="●"/>
              <a:defRPr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nir"/>
              <a:buChar char="○"/>
              <a:defRPr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nir"/>
              <a:buChar char="■"/>
              <a:defRPr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nir"/>
              <a:buChar char="●"/>
              <a:defRPr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nir"/>
              <a:buChar char="○"/>
              <a:defRPr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venir"/>
              <a:buChar char="■"/>
              <a:defRPr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6.jpg"/><Relationship Id="rId5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994411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NestFinder: Search That Understands What You Actually Mean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71100" y="3725411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Akmal Ashirmatov </a:t>
            </a:r>
            <a:r>
              <a:rPr lang="en-GB"/>
              <a:t>, </a:t>
            </a:r>
            <a:r>
              <a:rPr lang="en-GB"/>
              <a:t>Diego Zafferani</a:t>
            </a:r>
            <a:r>
              <a:rPr lang="en-GB"/>
              <a:t>, Jing Yan, Darya Zare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/>
        </p:nvSpPr>
        <p:spPr>
          <a:xfrm>
            <a:off x="2219275" y="2245400"/>
            <a:ext cx="5727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6" name="Google Shape;106;p26"/>
          <p:cNvSpPr txBox="1"/>
          <p:nvPr/>
        </p:nvSpPr>
        <p:spPr>
          <a:xfrm>
            <a:off x="2480850" y="2325450"/>
            <a:ext cx="81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Hard constraints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7" name="Google Shape;107;p26"/>
          <p:cNvSpPr txBox="1"/>
          <p:nvPr/>
        </p:nvSpPr>
        <p:spPr>
          <a:xfrm>
            <a:off x="2877475" y="182600"/>
            <a:ext cx="133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Databases</a:t>
            </a:r>
            <a:endParaRPr sz="18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08" name="Google Shape;108;p26"/>
          <p:cNvSpPr txBox="1"/>
          <p:nvPr/>
        </p:nvSpPr>
        <p:spPr>
          <a:xfrm rot="5400000">
            <a:off x="6555600" y="2775600"/>
            <a:ext cx="1167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Personalization in action</a:t>
            </a:r>
            <a:endParaRPr sz="1000"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09" name="Google Shape;109;p26"/>
          <p:cNvSpPr txBox="1"/>
          <p:nvPr/>
        </p:nvSpPr>
        <p:spPr>
          <a:xfrm rot="5400000">
            <a:off x="8067000" y="2641313"/>
            <a:ext cx="117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User Interactions</a:t>
            </a:r>
            <a:endParaRPr sz="1000"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pic>
        <p:nvPicPr>
          <p:cNvPr id="110" name="Google Shape;11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52" y="632196"/>
            <a:ext cx="9144003" cy="4080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19518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Enrichment</a:t>
            </a:r>
            <a:endParaRPr/>
          </a:p>
        </p:txBody>
      </p:sp>
      <p:pic>
        <p:nvPicPr>
          <p:cNvPr id="116" name="Google Shape;116;p27"/>
          <p:cNvPicPr preferRelativeResize="0"/>
          <p:nvPr/>
        </p:nvPicPr>
        <p:blipFill rotWithShape="1">
          <a:blip r:embed="rId3">
            <a:alphaModFix/>
          </a:blip>
          <a:srcRect b="23949" l="24470" r="24455" t="24259"/>
          <a:stretch/>
        </p:blipFill>
        <p:spPr>
          <a:xfrm>
            <a:off x="3584950" y="199925"/>
            <a:ext cx="591654" cy="59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4975" y="199913"/>
            <a:ext cx="599974" cy="599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7"/>
          <p:cNvPicPr preferRelativeResize="0"/>
          <p:nvPr/>
        </p:nvPicPr>
        <p:blipFill rotWithShape="1">
          <a:blip r:embed="rId5">
            <a:alphaModFix/>
          </a:blip>
          <a:srcRect b="17863" l="15821" r="13583" t="18750"/>
          <a:stretch/>
        </p:blipFill>
        <p:spPr>
          <a:xfrm>
            <a:off x="4176600" y="219925"/>
            <a:ext cx="915462" cy="54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2050" y="219925"/>
            <a:ext cx="504126" cy="50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7"/>
          <p:cNvSpPr/>
          <p:nvPr/>
        </p:nvSpPr>
        <p:spPr>
          <a:xfrm>
            <a:off x="510640" y="1168048"/>
            <a:ext cx="4012800" cy="1020300"/>
          </a:xfrm>
          <a:prstGeom prst="roundRect">
            <a:avLst>
              <a:gd fmla="val 7805" name="adj"/>
            </a:avLst>
          </a:prstGeom>
          <a:solidFill>
            <a:srgbClr val="FFFFFF"/>
          </a:solidFill>
          <a:ln cap="flat" cmpd="sng" w="1657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350" lIns="66350" spcFirstLastPara="1" rIns="66350" wrap="square" tIns="6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7"/>
          <p:cNvSpPr/>
          <p:nvPr/>
        </p:nvSpPr>
        <p:spPr>
          <a:xfrm>
            <a:off x="494048" y="1168048"/>
            <a:ext cx="66300" cy="1020300"/>
          </a:xfrm>
          <a:prstGeom prst="roundRect">
            <a:avLst>
              <a:gd fmla="val 90366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66350" lIns="66350" spcFirstLastPara="1" rIns="66350" wrap="square" tIns="6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7"/>
          <p:cNvSpPr/>
          <p:nvPr/>
        </p:nvSpPr>
        <p:spPr>
          <a:xfrm>
            <a:off x="719769" y="1327402"/>
            <a:ext cx="3296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79"/>
              <a:buFont typeface="Inter"/>
              <a:buNone/>
            </a:pPr>
            <a:r>
              <a:rPr b="1" i="0" lang="en-GB" sz="137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 sources, 40+ features, zero labeling</a:t>
            </a:r>
            <a:endParaRPr b="0" i="0" sz="1379" u="none" cap="none" strike="noStrike"/>
          </a:p>
        </p:txBody>
      </p:sp>
      <p:sp>
        <p:nvSpPr>
          <p:cNvPr id="123" name="Google Shape;123;p27"/>
          <p:cNvSpPr/>
          <p:nvPr/>
        </p:nvSpPr>
        <p:spPr>
          <a:xfrm>
            <a:off x="4637145" y="1168048"/>
            <a:ext cx="4012800" cy="1020300"/>
          </a:xfrm>
          <a:prstGeom prst="roundRect">
            <a:avLst>
              <a:gd fmla="val 7805" name="adj"/>
            </a:avLst>
          </a:prstGeom>
          <a:solidFill>
            <a:srgbClr val="FFFFFF"/>
          </a:solidFill>
          <a:ln cap="flat" cmpd="sng" w="1657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350" lIns="66350" spcFirstLastPara="1" rIns="66350" wrap="square" tIns="6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7"/>
          <p:cNvSpPr/>
          <p:nvPr/>
        </p:nvSpPr>
        <p:spPr>
          <a:xfrm>
            <a:off x="4620552" y="1168048"/>
            <a:ext cx="66300" cy="1020300"/>
          </a:xfrm>
          <a:prstGeom prst="roundRect">
            <a:avLst>
              <a:gd fmla="val 90366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66350" lIns="66350" spcFirstLastPara="1" rIns="66350" wrap="square" tIns="6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7"/>
          <p:cNvSpPr/>
          <p:nvPr/>
        </p:nvSpPr>
        <p:spPr>
          <a:xfrm>
            <a:off x="4846274" y="1327402"/>
            <a:ext cx="1784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79"/>
              <a:buFont typeface="Inter"/>
              <a:buNone/>
            </a:pPr>
            <a:r>
              <a:rPr b="1" i="0" lang="en-GB" sz="137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Where?</a:t>
            </a:r>
            <a:endParaRPr b="0" i="0" sz="1379" u="none" cap="none" strike="noStrike"/>
          </a:p>
        </p:txBody>
      </p:sp>
      <p:sp>
        <p:nvSpPr>
          <p:cNvPr id="126" name="Google Shape;126;p27"/>
          <p:cNvSpPr/>
          <p:nvPr/>
        </p:nvSpPr>
        <p:spPr>
          <a:xfrm>
            <a:off x="4846274" y="1618802"/>
            <a:ext cx="3644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8882" lvl="0" marL="248882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89"/>
              <a:buFont typeface="Inter"/>
              <a:buChar char="•"/>
            </a:pPr>
            <a:r>
              <a:rPr b="0" i="0" lang="en-GB" sz="108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Municipality, district, canton, population density (swissBOUNDARIES3D)</a:t>
            </a:r>
            <a:endParaRPr b="0" i="0" sz="1089" u="none" cap="none" strike="noStrike"/>
          </a:p>
        </p:txBody>
      </p:sp>
      <p:sp>
        <p:nvSpPr>
          <p:cNvPr id="127" name="Google Shape;127;p27"/>
          <p:cNvSpPr/>
          <p:nvPr/>
        </p:nvSpPr>
        <p:spPr>
          <a:xfrm>
            <a:off x="510640" y="2302192"/>
            <a:ext cx="4012800" cy="1020300"/>
          </a:xfrm>
          <a:prstGeom prst="roundRect">
            <a:avLst>
              <a:gd fmla="val 7805" name="adj"/>
            </a:avLst>
          </a:prstGeom>
          <a:solidFill>
            <a:srgbClr val="FFFFFF"/>
          </a:solidFill>
          <a:ln cap="flat" cmpd="sng" w="1657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350" lIns="66350" spcFirstLastPara="1" rIns="66350" wrap="square" tIns="6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494048" y="2302192"/>
            <a:ext cx="66300" cy="1020300"/>
          </a:xfrm>
          <a:prstGeom prst="roundRect">
            <a:avLst>
              <a:gd fmla="val 90366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66350" lIns="66350" spcFirstLastPara="1" rIns="66350" wrap="square" tIns="6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7"/>
          <p:cNvSpPr/>
          <p:nvPr/>
        </p:nvSpPr>
        <p:spPr>
          <a:xfrm>
            <a:off x="719769" y="2461545"/>
            <a:ext cx="1784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79"/>
              <a:buFont typeface="Inter"/>
              <a:buNone/>
            </a:pPr>
            <a:r>
              <a:rPr b="1" i="0" lang="en-GB" sz="137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How connected?</a:t>
            </a:r>
            <a:endParaRPr b="0" i="0" sz="1379" u="none" cap="none" strike="noStrike"/>
          </a:p>
        </p:txBody>
      </p:sp>
      <p:sp>
        <p:nvSpPr>
          <p:cNvPr id="130" name="Google Shape;130;p27"/>
          <p:cNvSpPr/>
          <p:nvPr/>
        </p:nvSpPr>
        <p:spPr>
          <a:xfrm>
            <a:off x="719769" y="2752946"/>
            <a:ext cx="3644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8882" lvl="0" marL="248882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89"/>
              <a:buFont typeface="Inter"/>
              <a:buChar char="•"/>
            </a:pPr>
            <a:r>
              <a:rPr b="0" i="0" lang="en-GB" sz="108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Nearest stop, train station &amp; Hauptbahnhof (SBB API)</a:t>
            </a:r>
            <a:endParaRPr b="0" i="0" sz="1089" u="none" cap="none" strike="noStrike"/>
          </a:p>
        </p:txBody>
      </p:sp>
      <p:sp>
        <p:nvSpPr>
          <p:cNvPr id="131" name="Google Shape;131;p27"/>
          <p:cNvSpPr/>
          <p:nvPr/>
        </p:nvSpPr>
        <p:spPr>
          <a:xfrm>
            <a:off x="4637145" y="2302192"/>
            <a:ext cx="4012800" cy="1020300"/>
          </a:xfrm>
          <a:prstGeom prst="roundRect">
            <a:avLst>
              <a:gd fmla="val 7805" name="adj"/>
            </a:avLst>
          </a:prstGeom>
          <a:solidFill>
            <a:srgbClr val="FFFFFF"/>
          </a:solidFill>
          <a:ln cap="flat" cmpd="sng" w="1657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350" lIns="66350" spcFirstLastPara="1" rIns="66350" wrap="square" tIns="6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7"/>
          <p:cNvSpPr/>
          <p:nvPr/>
        </p:nvSpPr>
        <p:spPr>
          <a:xfrm>
            <a:off x="4620552" y="2302192"/>
            <a:ext cx="66300" cy="1020300"/>
          </a:xfrm>
          <a:prstGeom prst="roundRect">
            <a:avLst>
              <a:gd fmla="val 90366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66350" lIns="66350" spcFirstLastPara="1" rIns="66350" wrap="square" tIns="6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7"/>
          <p:cNvSpPr/>
          <p:nvPr/>
        </p:nvSpPr>
        <p:spPr>
          <a:xfrm>
            <a:off x="4846274" y="2461545"/>
            <a:ext cx="1784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79"/>
              <a:buFont typeface="Inter"/>
              <a:buNone/>
            </a:pPr>
            <a:r>
              <a:rPr b="1" i="0" lang="en-GB" sz="137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What's nearby?</a:t>
            </a:r>
            <a:endParaRPr b="0" i="0" sz="1379" u="none" cap="none" strike="noStrike"/>
          </a:p>
        </p:txBody>
      </p:sp>
      <p:sp>
        <p:nvSpPr>
          <p:cNvPr id="134" name="Google Shape;134;p27"/>
          <p:cNvSpPr/>
          <p:nvPr/>
        </p:nvSpPr>
        <p:spPr>
          <a:xfrm>
            <a:off x="4846274" y="2752946"/>
            <a:ext cx="36444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8882" lvl="0" marL="248882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89"/>
              <a:buFont typeface="Inter"/>
              <a:buChar char="•"/>
            </a:pPr>
            <a:r>
              <a:rPr b="0" i="0" lang="en-GB" sz="108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12 POI types (OpenStreetMap)</a:t>
            </a:r>
            <a:endParaRPr b="0" i="0" sz="1089" u="none" cap="none" strike="noStrike"/>
          </a:p>
        </p:txBody>
      </p:sp>
      <p:sp>
        <p:nvSpPr>
          <p:cNvPr id="135" name="Google Shape;135;p27"/>
          <p:cNvSpPr/>
          <p:nvPr/>
        </p:nvSpPr>
        <p:spPr>
          <a:xfrm>
            <a:off x="510640" y="3436335"/>
            <a:ext cx="4012800" cy="815100"/>
          </a:xfrm>
          <a:prstGeom prst="roundRect">
            <a:avLst>
              <a:gd fmla="val 9769" name="adj"/>
            </a:avLst>
          </a:prstGeom>
          <a:solidFill>
            <a:srgbClr val="FFFFFF"/>
          </a:solidFill>
          <a:ln cap="flat" cmpd="sng" w="1657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350" lIns="66350" spcFirstLastPara="1" rIns="66350" wrap="square" tIns="6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7"/>
          <p:cNvSpPr/>
          <p:nvPr/>
        </p:nvSpPr>
        <p:spPr>
          <a:xfrm>
            <a:off x="494048" y="3436335"/>
            <a:ext cx="66300" cy="815100"/>
          </a:xfrm>
          <a:prstGeom prst="roundRect">
            <a:avLst>
              <a:gd fmla="val 90366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66350" lIns="66350" spcFirstLastPara="1" rIns="66350" wrap="square" tIns="6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7"/>
          <p:cNvSpPr/>
          <p:nvPr/>
        </p:nvSpPr>
        <p:spPr>
          <a:xfrm>
            <a:off x="719769" y="3595689"/>
            <a:ext cx="1784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79"/>
              <a:buFont typeface="Inter"/>
              <a:buNone/>
            </a:pPr>
            <a:r>
              <a:rPr b="1" i="0" lang="en-GB" sz="137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Fair price?</a:t>
            </a:r>
            <a:endParaRPr b="0" i="0" sz="1379" u="none" cap="none" strike="noStrike"/>
          </a:p>
        </p:txBody>
      </p:sp>
      <p:sp>
        <p:nvSpPr>
          <p:cNvPr id="138" name="Google Shape;138;p27"/>
          <p:cNvSpPr/>
          <p:nvPr/>
        </p:nvSpPr>
        <p:spPr>
          <a:xfrm>
            <a:off x="719769" y="3887089"/>
            <a:ext cx="36444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8882" lvl="0" marL="248882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89"/>
              <a:buFont typeface="Inter"/>
              <a:buChar char="•"/>
            </a:pPr>
            <a:r>
              <a:rPr b="0" i="0" lang="en-GB" sz="108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CHF/m2 vs. municipality, district &amp; canton avg</a:t>
            </a:r>
            <a:endParaRPr b="0" i="0" sz="1089" u="none" cap="none" strike="noStrike"/>
          </a:p>
        </p:txBody>
      </p:sp>
      <p:sp>
        <p:nvSpPr>
          <p:cNvPr id="139" name="Google Shape;139;p27"/>
          <p:cNvSpPr/>
          <p:nvPr/>
        </p:nvSpPr>
        <p:spPr>
          <a:xfrm>
            <a:off x="4637145" y="3436335"/>
            <a:ext cx="4012800" cy="815100"/>
          </a:xfrm>
          <a:prstGeom prst="roundRect">
            <a:avLst>
              <a:gd fmla="val 9769" name="adj"/>
            </a:avLst>
          </a:prstGeom>
          <a:solidFill>
            <a:srgbClr val="FFFFFF"/>
          </a:solidFill>
          <a:ln cap="flat" cmpd="sng" w="1657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350" lIns="66350" spcFirstLastPara="1" rIns="66350" wrap="square" tIns="6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7"/>
          <p:cNvSpPr/>
          <p:nvPr/>
        </p:nvSpPr>
        <p:spPr>
          <a:xfrm>
            <a:off x="4620552" y="3436335"/>
            <a:ext cx="66300" cy="815100"/>
          </a:xfrm>
          <a:prstGeom prst="roundRect">
            <a:avLst>
              <a:gd fmla="val 90366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66350" lIns="66350" spcFirstLastPara="1" rIns="66350" wrap="square" tIns="6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7"/>
          <p:cNvSpPr/>
          <p:nvPr/>
        </p:nvSpPr>
        <p:spPr>
          <a:xfrm>
            <a:off x="4846274" y="3595689"/>
            <a:ext cx="1784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79"/>
              <a:buFont typeface="Inter"/>
              <a:buNone/>
            </a:pPr>
            <a:r>
              <a:rPr b="1" i="0" lang="en-GB" sz="137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What's inside?</a:t>
            </a:r>
            <a:endParaRPr b="0" i="0" sz="1379" u="none" cap="none" strike="noStrike"/>
          </a:p>
        </p:txBody>
      </p:sp>
      <p:sp>
        <p:nvSpPr>
          <p:cNvPr id="142" name="Google Shape;142;p27"/>
          <p:cNvSpPr/>
          <p:nvPr/>
        </p:nvSpPr>
        <p:spPr>
          <a:xfrm>
            <a:off x="4846274" y="3887089"/>
            <a:ext cx="36444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8882" lvl="0" marL="248882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89"/>
              <a:buFont typeface="Inter"/>
              <a:buChar char="•"/>
            </a:pPr>
            <a:r>
              <a:rPr b="0" i="0" lang="en-GB" sz="108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12 features from descriptions (Claude Haiku)</a:t>
            </a:r>
            <a:endParaRPr b="0" i="0" sz="1089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/>
          <p:nvPr/>
        </p:nvSpPr>
        <p:spPr>
          <a:xfrm>
            <a:off x="6541225" y="3303450"/>
            <a:ext cx="2381700" cy="1387800"/>
          </a:xfrm>
          <a:prstGeom prst="roundRect">
            <a:avLst>
              <a:gd fmla="val 6000" name="adj"/>
            </a:avLst>
          </a:prstGeom>
          <a:solidFill>
            <a:srgbClr val="F5F7FF"/>
          </a:solidFill>
          <a:ln cap="flat" cmpd="sng" w="12700">
            <a:solidFill>
              <a:srgbClr val="B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8"/>
          <p:cNvSpPr/>
          <p:nvPr/>
        </p:nvSpPr>
        <p:spPr>
          <a:xfrm>
            <a:off x="1677225" y="2953225"/>
            <a:ext cx="3988500" cy="2190300"/>
          </a:xfrm>
          <a:prstGeom prst="roundRect">
            <a:avLst>
              <a:gd fmla="val 8000" name="adj"/>
            </a:avLst>
          </a:prstGeom>
          <a:solidFill>
            <a:srgbClr val="F2FBF2"/>
          </a:solidFill>
          <a:ln cap="flat" cmpd="sng" w="19050">
            <a:solidFill>
              <a:srgbClr val="2E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19518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Query understanding</a:t>
            </a:r>
            <a:endParaRPr/>
          </a:p>
        </p:txBody>
      </p:sp>
      <p:sp>
        <p:nvSpPr>
          <p:cNvPr id="150" name="Google Shape;150;p28"/>
          <p:cNvSpPr/>
          <p:nvPr/>
        </p:nvSpPr>
        <p:spPr>
          <a:xfrm>
            <a:off x="6781550" y="840150"/>
            <a:ext cx="2303100" cy="1813500"/>
          </a:xfrm>
          <a:prstGeom prst="roundRect">
            <a:avLst>
              <a:gd fmla="val 6863" name="adj"/>
            </a:avLst>
          </a:prstGeom>
          <a:noFill/>
          <a:ln cap="flat" cmpd="sng" w="23950">
            <a:solidFill>
              <a:srgbClr val="155397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32325" lIns="64675" spcFirstLastPara="1" rIns="64675" wrap="square" tIns="32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2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Hard filters</a:t>
            </a:r>
            <a:r>
              <a:rPr b="1" lang="en-GB" sz="17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60">
              <a:solidFill>
                <a:srgbClr val="7A8E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500">
                <a:solidFill>
                  <a:srgbClr val="3A6A9A"/>
                </a:solidFill>
                <a:latin typeface="Calibri"/>
                <a:ea typeface="Calibri"/>
                <a:cs typeface="Calibri"/>
                <a:sym typeface="Calibri"/>
              </a:rPr>
              <a:t>city:</a:t>
            </a:r>
            <a:r>
              <a:rPr lang="en-GB" sz="1500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1500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Zurich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500">
                <a:solidFill>
                  <a:srgbClr val="3A6A9A"/>
                </a:solidFill>
                <a:latin typeface="Calibri"/>
                <a:ea typeface="Calibri"/>
                <a:cs typeface="Calibri"/>
                <a:sym typeface="Calibri"/>
              </a:rPr>
              <a:t>rooms</a:t>
            </a:r>
            <a:r>
              <a:rPr lang="en-GB" sz="1500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GB" sz="1500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3.0 exactly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500">
                <a:solidFill>
                  <a:srgbClr val="3A6A9A"/>
                </a:solidFill>
                <a:latin typeface="Calibri"/>
                <a:ea typeface="Calibri"/>
                <a:cs typeface="Calibri"/>
                <a:sym typeface="Calibri"/>
              </a:rPr>
              <a:t>max_price</a:t>
            </a:r>
            <a:r>
              <a:rPr lang="en-GB" sz="1500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GB" sz="1500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CHF 2800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500">
                <a:solidFill>
                  <a:srgbClr val="3A6A9A"/>
                </a:solidFill>
                <a:latin typeface="Calibri"/>
                <a:ea typeface="Calibri"/>
                <a:cs typeface="Calibri"/>
                <a:sym typeface="Calibri"/>
              </a:rPr>
              <a:t>offer_type:</a:t>
            </a:r>
            <a:r>
              <a:rPr lang="en-GB" sz="1500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1500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RENT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1420">
                <a:solidFill>
                  <a:srgbClr val="3A6A9A"/>
                </a:solidFill>
                <a:latin typeface="Calibri"/>
                <a:ea typeface="Calibri"/>
                <a:cs typeface="Calibri"/>
                <a:sym typeface="Calibri"/>
              </a:rPr>
              <a:t>Fail any  -&gt;  listing excluded</a:t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8"/>
          <p:cNvSpPr/>
          <p:nvPr/>
        </p:nvSpPr>
        <p:spPr>
          <a:xfrm>
            <a:off x="3441238" y="840150"/>
            <a:ext cx="2431500" cy="1813500"/>
          </a:xfrm>
          <a:prstGeom prst="roundRect">
            <a:avLst>
              <a:gd fmla="val 6863" name="adj"/>
            </a:avLst>
          </a:prstGeom>
          <a:noFill/>
          <a:ln cap="flat" cmpd="sng" w="23950">
            <a:solidFill>
              <a:srgbClr val="155397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33825" lIns="67700" spcFirstLastPara="1" rIns="67700" wrap="square" tIns="33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162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Claude (LLM parser)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520">
                <a:solidFill>
                  <a:srgbClr val="3A6A9A"/>
                </a:solidFill>
                <a:latin typeface="Calibri"/>
                <a:ea typeface="Calibri"/>
                <a:cs typeface="Calibri"/>
                <a:sym typeface="Calibri"/>
              </a:rPr>
              <a:t>Structured JSON output prompt</a:t>
            </a:r>
            <a:endParaRPr sz="2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1660">
              <a:solidFill>
                <a:srgbClr val="1E3A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500">
                <a:solidFill>
                  <a:srgbClr val="3A6A9A"/>
                </a:solidFill>
                <a:latin typeface="Calibri"/>
                <a:ea typeface="Calibri"/>
                <a:cs typeface="Calibri"/>
                <a:sym typeface="Calibri"/>
              </a:rPr>
              <a:t>Detects intent, intensity,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500">
                <a:solidFill>
                  <a:srgbClr val="3A6A9A"/>
                </a:solidFill>
                <a:latin typeface="Calibri"/>
                <a:ea typeface="Calibri"/>
                <a:cs typeface="Calibri"/>
                <a:sym typeface="Calibri"/>
              </a:rPr>
              <a:t>hedge words, Swiss terms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500">
                <a:solidFill>
                  <a:srgbClr val="3A6A9A"/>
                </a:solidFill>
                <a:latin typeface="Calibri"/>
                <a:ea typeface="Calibri"/>
                <a:cs typeface="Calibri"/>
                <a:sym typeface="Calibri"/>
              </a:rPr>
              <a:t>(3.5-Zimmer, ab sofort)</a:t>
            </a:r>
            <a:endParaRPr sz="2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8"/>
          <p:cNvSpPr txBox="1"/>
          <p:nvPr/>
        </p:nvSpPr>
        <p:spPr>
          <a:xfrm>
            <a:off x="866650" y="907625"/>
            <a:ext cx="1605300" cy="9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60000" spcFirstLastPara="1" rIns="6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3" name="Google Shape;153;p28"/>
          <p:cNvSpPr/>
          <p:nvPr/>
        </p:nvSpPr>
        <p:spPr>
          <a:xfrm>
            <a:off x="197225" y="840150"/>
            <a:ext cx="2303100" cy="1813500"/>
          </a:xfrm>
          <a:prstGeom prst="roundRect">
            <a:avLst>
              <a:gd fmla="val 6863" name="adj"/>
            </a:avLst>
          </a:prstGeom>
          <a:noFill/>
          <a:ln cap="flat" cmpd="sng" w="25075">
            <a:solidFill>
              <a:srgbClr val="155397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33825" lIns="67700" spcFirstLastPara="1" rIns="67700" wrap="square" tIns="33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162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Raw query input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500">
                <a:solidFill>
                  <a:srgbClr val="3A6A9A"/>
                </a:solidFill>
                <a:latin typeface="Calibri"/>
                <a:ea typeface="Calibri"/>
                <a:cs typeface="Calibri"/>
                <a:sym typeface="Calibri"/>
              </a:rPr>
              <a:t>"3-room bright apartment</a:t>
            </a:r>
            <a:endParaRPr sz="1500">
              <a:solidFill>
                <a:srgbClr val="3A6A9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500">
                <a:solidFill>
                  <a:srgbClr val="3A6A9A"/>
                </a:solidFill>
                <a:latin typeface="Calibri"/>
                <a:ea typeface="Calibri"/>
                <a:cs typeface="Calibri"/>
                <a:sym typeface="Calibri"/>
              </a:rPr>
              <a:t> in Zurich under 2800 CHF</a:t>
            </a:r>
            <a:endParaRPr sz="1500">
              <a:solidFill>
                <a:srgbClr val="3A6A9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500">
                <a:solidFill>
                  <a:srgbClr val="3A6A9A"/>
                </a:solidFill>
                <a:latin typeface="Calibri"/>
                <a:ea typeface="Calibri"/>
                <a:cs typeface="Calibri"/>
                <a:sym typeface="Calibri"/>
              </a:rPr>
              <a:t> with balcony, close to</a:t>
            </a:r>
            <a:endParaRPr sz="1500">
              <a:solidFill>
                <a:srgbClr val="3A6A9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500">
                <a:solidFill>
                  <a:srgbClr val="3A6A9A"/>
                </a:solidFill>
                <a:latin typeface="Calibri"/>
                <a:ea typeface="Calibri"/>
                <a:cs typeface="Calibri"/>
                <a:sym typeface="Calibri"/>
              </a:rPr>
              <a:t> public transport,</a:t>
            </a:r>
            <a:endParaRPr sz="1500">
              <a:solidFill>
                <a:srgbClr val="3A6A9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500">
                <a:solidFill>
                  <a:srgbClr val="3A6A9A"/>
                </a:solidFill>
                <a:latin typeface="Calibri"/>
                <a:ea typeface="Calibri"/>
                <a:cs typeface="Calibri"/>
                <a:sym typeface="Calibri"/>
              </a:rPr>
              <a:t> ideally quiet"</a:t>
            </a:r>
            <a:endParaRPr sz="1500">
              <a:solidFill>
                <a:srgbClr val="3A6A9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6960775" y="518250"/>
            <a:ext cx="1962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60000" spcFirstLastPara="1" rIns="6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55" name="Google Shape;155;p28"/>
          <p:cNvSpPr/>
          <p:nvPr/>
        </p:nvSpPr>
        <p:spPr>
          <a:xfrm>
            <a:off x="2577629" y="1433825"/>
            <a:ext cx="786300" cy="467100"/>
          </a:xfrm>
          <a:prstGeom prst="rightArrow">
            <a:avLst>
              <a:gd fmla="val 48756" name="adj1"/>
              <a:gd fmla="val 47306" name="adj2"/>
            </a:avLst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8"/>
          <p:cNvSpPr/>
          <p:nvPr/>
        </p:nvSpPr>
        <p:spPr>
          <a:xfrm>
            <a:off x="5934000" y="1595275"/>
            <a:ext cx="786300" cy="434100"/>
          </a:xfrm>
          <a:prstGeom prst="rightArrow">
            <a:avLst>
              <a:gd fmla="val 48756" name="adj1"/>
              <a:gd fmla="val 47306" name="adj2"/>
            </a:avLst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8"/>
          <p:cNvSpPr/>
          <p:nvPr/>
        </p:nvSpPr>
        <p:spPr>
          <a:xfrm rot="7950627">
            <a:off x="5830512" y="2785780"/>
            <a:ext cx="786267" cy="467135"/>
          </a:xfrm>
          <a:prstGeom prst="rightArrow">
            <a:avLst>
              <a:gd fmla="val 48756" name="adj1"/>
              <a:gd fmla="val 47306" name="adj2"/>
            </a:avLst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8" name="Google Shape;158;p28" title="Screenshot 2026-04-19 at 11.41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3803" y="3342563"/>
            <a:ext cx="3675331" cy="171462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59" name="Google Shape;159;p28"/>
          <p:cNvSpPr txBox="1"/>
          <p:nvPr/>
        </p:nvSpPr>
        <p:spPr>
          <a:xfrm>
            <a:off x="1667500" y="2953225"/>
            <a:ext cx="39885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2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Soft filters: intensity-weighted scoring</a:t>
            </a:r>
            <a:endParaRPr/>
          </a:p>
        </p:txBody>
      </p:sp>
      <p:sp>
        <p:nvSpPr>
          <p:cNvPr id="160" name="Google Shape;160;p28"/>
          <p:cNvSpPr txBox="1"/>
          <p:nvPr/>
        </p:nvSpPr>
        <p:spPr>
          <a:xfrm>
            <a:off x="6541225" y="3303450"/>
            <a:ext cx="2431500" cy="13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60000" spcFirstLastPara="1" rIns="6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Key insight:  </a:t>
            </a:r>
            <a:r>
              <a:rPr b="1" i="0" lang="en-GB" sz="1000" u="none" cap="none" strike="noStrike">
                <a:solidFill>
                  <a:srgbClr val="1E3A6E"/>
                </a:solidFill>
                <a:latin typeface="Courier New"/>
                <a:ea typeface="Courier New"/>
                <a:cs typeface="Courier New"/>
                <a:sym typeface="Courier New"/>
              </a:rPr>
              <a:t>"must have parking"</a:t>
            </a:r>
            <a:r>
              <a:rPr b="0" i="0" lang="en-GB" sz="10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  scores </a:t>
            </a:r>
            <a:r>
              <a:rPr b="1" i="0" lang="en-GB" sz="11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6x higher</a:t>
            </a:r>
            <a:r>
              <a:rPr b="0" i="0" lang="en-GB" sz="10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  than  </a:t>
            </a:r>
            <a:r>
              <a:rPr b="1" i="0" lang="en-GB" sz="1000" u="none" cap="none" strike="noStrike">
                <a:solidFill>
                  <a:srgbClr val="8AAA20"/>
                </a:solidFill>
                <a:latin typeface="Courier New"/>
                <a:ea typeface="Courier New"/>
                <a:cs typeface="Courier New"/>
                <a:sym typeface="Courier New"/>
              </a:rPr>
              <a:t>"bright would be nice"</a:t>
            </a:r>
            <a:r>
              <a:rPr b="0" i="0" lang="en-GB" sz="10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  — intensity detected from language, not from explicit settings.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90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Claude identifies hedge words (ideally, would be nice, if possible) and certainty markers (must, essential, required), mapping them to weight multipliers 0.15 to 1.00.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 Signal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0" title="09b2eb18-928e-d3cf-b7a6-ac99810746b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1575" y="1228896"/>
            <a:ext cx="2154400" cy="143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0"/>
          <p:cNvSpPr txBox="1"/>
          <p:nvPr>
            <p:ph type="title"/>
          </p:nvPr>
        </p:nvSpPr>
        <p:spPr>
          <a:xfrm>
            <a:off x="311700" y="19518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RAG Service</a:t>
            </a:r>
            <a:endParaRPr/>
          </a:p>
        </p:txBody>
      </p:sp>
      <p:sp>
        <p:nvSpPr>
          <p:cNvPr id="172" name="Google Shape;172;p30"/>
          <p:cNvSpPr/>
          <p:nvPr/>
        </p:nvSpPr>
        <p:spPr>
          <a:xfrm>
            <a:off x="3503025" y="1645200"/>
            <a:ext cx="994800" cy="3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3" name="Google Shape;173;p30"/>
          <p:cNvSpPr/>
          <p:nvPr/>
        </p:nvSpPr>
        <p:spPr>
          <a:xfrm>
            <a:off x="3503025" y="2110725"/>
            <a:ext cx="994800" cy="3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4" name="Google Shape;174;p30"/>
          <p:cNvSpPr/>
          <p:nvPr/>
        </p:nvSpPr>
        <p:spPr>
          <a:xfrm>
            <a:off x="3503025" y="2576250"/>
            <a:ext cx="994800" cy="3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5" name="Google Shape;175;p30"/>
          <p:cNvSpPr/>
          <p:nvPr/>
        </p:nvSpPr>
        <p:spPr>
          <a:xfrm>
            <a:off x="3503025" y="3041775"/>
            <a:ext cx="994800" cy="3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6" name="Google Shape;176;p30"/>
          <p:cNvSpPr/>
          <p:nvPr/>
        </p:nvSpPr>
        <p:spPr>
          <a:xfrm>
            <a:off x="3503025" y="3507300"/>
            <a:ext cx="994800" cy="30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77" name="Google Shape;177;p30" title="8affae55-2bca-7b22-ca58-3ef6ecf732b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3025" y="1873426"/>
            <a:ext cx="2154400" cy="143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0" title="c36dafe9-b6ef-5324-759c-f8a50bd01846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7875" y="2485437"/>
            <a:ext cx="2360099" cy="1574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30"/>
          <p:cNvCxnSpPr>
            <a:endCxn id="175" idx="3"/>
          </p:cNvCxnSpPr>
          <p:nvPr/>
        </p:nvCxnSpPr>
        <p:spPr>
          <a:xfrm rot="10800000">
            <a:off x="4497825" y="3195225"/>
            <a:ext cx="1858500" cy="34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30"/>
          <p:cNvCxnSpPr/>
          <p:nvPr/>
        </p:nvCxnSpPr>
        <p:spPr>
          <a:xfrm rot="10800000">
            <a:off x="4497825" y="2691825"/>
            <a:ext cx="1890000" cy="13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30"/>
          <p:cNvCxnSpPr>
            <a:endCxn id="173" idx="3"/>
          </p:cNvCxnSpPr>
          <p:nvPr/>
        </p:nvCxnSpPr>
        <p:spPr>
          <a:xfrm flipH="1">
            <a:off x="4497825" y="1867275"/>
            <a:ext cx="967500" cy="39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30"/>
          <p:cNvSpPr/>
          <p:nvPr/>
        </p:nvSpPr>
        <p:spPr>
          <a:xfrm>
            <a:off x="3725325" y="4088450"/>
            <a:ext cx="152400" cy="15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3" name="Google Shape;183;p30"/>
          <p:cNvSpPr/>
          <p:nvPr/>
        </p:nvSpPr>
        <p:spPr>
          <a:xfrm>
            <a:off x="3924225" y="4088450"/>
            <a:ext cx="152400" cy="15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4" name="Google Shape;184;p30"/>
          <p:cNvSpPr/>
          <p:nvPr/>
        </p:nvSpPr>
        <p:spPr>
          <a:xfrm>
            <a:off x="4123125" y="4088450"/>
            <a:ext cx="152400" cy="15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5" name="Google Shape;185;p30"/>
          <p:cNvSpPr txBox="1"/>
          <p:nvPr/>
        </p:nvSpPr>
        <p:spPr>
          <a:xfrm>
            <a:off x="429550" y="1798650"/>
            <a:ext cx="24933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“I am looking for …”</a:t>
            </a:r>
            <a:endParaRPr sz="18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186" name="Google Shape;186;p30"/>
          <p:cNvCxnSpPr>
            <a:stCxn id="185" idx="3"/>
          </p:cNvCxnSpPr>
          <p:nvPr/>
        </p:nvCxnSpPr>
        <p:spPr>
          <a:xfrm flipH="1" rot="10800000">
            <a:off x="2922850" y="2119650"/>
            <a:ext cx="382800" cy="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30"/>
          <p:cNvCxnSpPr/>
          <p:nvPr/>
        </p:nvCxnSpPr>
        <p:spPr>
          <a:xfrm rot="10800000">
            <a:off x="2910250" y="3195225"/>
            <a:ext cx="3954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30"/>
          <p:cNvSpPr txBox="1"/>
          <p:nvPr/>
        </p:nvSpPr>
        <p:spPr>
          <a:xfrm>
            <a:off x="670425" y="2383725"/>
            <a:ext cx="2493300" cy="16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{</a:t>
            </a:r>
            <a:endParaRPr sz="18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  Listing a : 0.95</a:t>
            </a:r>
            <a:endParaRPr sz="18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  Listing b : 0.92</a:t>
            </a:r>
            <a:endParaRPr sz="18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  Listing c : 0.85</a:t>
            </a:r>
            <a:endParaRPr sz="18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}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9" name="Google Shape;189;p30"/>
          <p:cNvSpPr txBox="1"/>
          <p:nvPr>
            <p:ph type="title"/>
          </p:nvPr>
        </p:nvSpPr>
        <p:spPr>
          <a:xfrm>
            <a:off x="390350" y="620400"/>
            <a:ext cx="4887600" cy="9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00">
                <a:solidFill>
                  <a:schemeClr val="dk2"/>
                </a:solidFill>
              </a:rPr>
              <a:t>Rerank candidate listings by visual similarity</a:t>
            </a:r>
            <a:endParaRPr sz="16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/>
          <p:nvPr/>
        </p:nvSpPr>
        <p:spPr>
          <a:xfrm>
            <a:off x="4565485" y="797350"/>
            <a:ext cx="15000" cy="4309800"/>
          </a:xfrm>
          <a:prstGeom prst="roundRect">
            <a:avLst>
              <a:gd fmla="val 382725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6625" lIns="96625" spcFirstLastPara="1" rIns="96625" wrap="square" tIns="9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1"/>
          <p:cNvSpPr/>
          <p:nvPr/>
        </p:nvSpPr>
        <p:spPr>
          <a:xfrm>
            <a:off x="3982703" y="954432"/>
            <a:ext cx="440400" cy="16200"/>
          </a:xfrm>
          <a:prstGeom prst="roundRect">
            <a:avLst>
              <a:gd fmla="val 382725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6625" lIns="96625" spcFirstLastPara="1" rIns="96625" wrap="square" tIns="9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1"/>
          <p:cNvSpPr/>
          <p:nvPr/>
        </p:nvSpPr>
        <p:spPr>
          <a:xfrm>
            <a:off x="4406995" y="797352"/>
            <a:ext cx="330300" cy="330300"/>
          </a:xfrm>
          <a:prstGeom prst="roundRect">
            <a:avLst>
              <a:gd fmla="val 18670" name="adj"/>
            </a:avLst>
          </a:prstGeom>
          <a:solidFill>
            <a:srgbClr val="DADBF1"/>
          </a:solidFill>
          <a:ln cap="flat" cmpd="sng" w="1007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625" lIns="96625" spcFirstLastPara="1" rIns="96625" wrap="square" tIns="9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1"/>
          <p:cNvSpPr/>
          <p:nvPr/>
        </p:nvSpPr>
        <p:spPr>
          <a:xfrm>
            <a:off x="4462062" y="824853"/>
            <a:ext cx="220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91"/>
              <a:buFont typeface="Inter"/>
              <a:buNone/>
            </a:pPr>
            <a:r>
              <a:rPr b="1" i="0" lang="en-GB" sz="169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691" u="none" cap="none" strike="noStrike"/>
          </a:p>
        </p:txBody>
      </p:sp>
      <p:sp>
        <p:nvSpPr>
          <p:cNvPr id="198" name="Google Shape;198;p31"/>
          <p:cNvSpPr/>
          <p:nvPr/>
        </p:nvSpPr>
        <p:spPr>
          <a:xfrm>
            <a:off x="2002966" y="847698"/>
            <a:ext cx="18348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27"/>
              <a:buFont typeface="Inter"/>
              <a:buNone/>
            </a:pPr>
            <a:r>
              <a:rPr b="1" i="0" lang="en-GB" sz="1427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Extract Preferences</a:t>
            </a:r>
            <a:endParaRPr b="0" i="0" sz="1427" u="none" cap="none" strike="noStrike"/>
          </a:p>
        </p:txBody>
      </p:sp>
      <p:sp>
        <p:nvSpPr>
          <p:cNvPr id="199" name="Google Shape;199;p31"/>
          <p:cNvSpPr/>
          <p:nvPr/>
        </p:nvSpPr>
        <p:spPr>
          <a:xfrm>
            <a:off x="388113" y="1126491"/>
            <a:ext cx="3449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10"/>
              <a:buFont typeface="Inter"/>
              <a:buNone/>
            </a:pPr>
            <a:r>
              <a:rPr b="0" i="0" lang="en-GB" sz="111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bright, quiet, balcony, public_transport, …</a:t>
            </a:r>
            <a:endParaRPr b="0" i="0" sz="1110" u="none" cap="none" strike="noStrike"/>
          </a:p>
        </p:txBody>
      </p:sp>
      <p:sp>
        <p:nvSpPr>
          <p:cNvPr id="200" name="Google Shape;200;p31"/>
          <p:cNvSpPr/>
          <p:nvPr/>
        </p:nvSpPr>
        <p:spPr>
          <a:xfrm>
            <a:off x="4721155" y="1706731"/>
            <a:ext cx="440400" cy="16200"/>
          </a:xfrm>
          <a:prstGeom prst="roundRect">
            <a:avLst>
              <a:gd fmla="val 382725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6625" lIns="96625" spcFirstLastPara="1" rIns="96625" wrap="square" tIns="9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1"/>
          <p:cNvSpPr/>
          <p:nvPr/>
        </p:nvSpPr>
        <p:spPr>
          <a:xfrm>
            <a:off x="4406995" y="1549651"/>
            <a:ext cx="330300" cy="330300"/>
          </a:xfrm>
          <a:prstGeom prst="roundRect">
            <a:avLst>
              <a:gd fmla="val 18670" name="adj"/>
            </a:avLst>
          </a:prstGeom>
          <a:solidFill>
            <a:srgbClr val="DADBF1"/>
          </a:solidFill>
          <a:ln cap="flat" cmpd="sng" w="1007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625" lIns="96625" spcFirstLastPara="1" rIns="96625" wrap="square" tIns="9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1"/>
          <p:cNvSpPr/>
          <p:nvPr/>
        </p:nvSpPr>
        <p:spPr>
          <a:xfrm>
            <a:off x="4462062" y="1577152"/>
            <a:ext cx="220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91"/>
              <a:buFont typeface="Inter"/>
              <a:buNone/>
            </a:pPr>
            <a:r>
              <a:rPr b="1" i="0" lang="en-GB" sz="169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691" u="none" cap="none" strike="noStrike"/>
          </a:p>
        </p:txBody>
      </p:sp>
      <p:sp>
        <p:nvSpPr>
          <p:cNvPr id="203" name="Google Shape;203;p31"/>
          <p:cNvSpPr/>
          <p:nvPr/>
        </p:nvSpPr>
        <p:spPr>
          <a:xfrm>
            <a:off x="5306178" y="1599997"/>
            <a:ext cx="18348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27"/>
              <a:buFont typeface="Inter"/>
              <a:buNone/>
            </a:pPr>
            <a:r>
              <a:rPr b="1" i="0" lang="en-GB" sz="1427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Assign Weights</a:t>
            </a:r>
            <a:endParaRPr b="0" i="0" sz="1427" u="none" cap="none" strike="noStrike"/>
          </a:p>
        </p:txBody>
      </p:sp>
      <p:sp>
        <p:nvSpPr>
          <p:cNvPr id="204" name="Google Shape;204;p31"/>
          <p:cNvSpPr/>
          <p:nvPr/>
        </p:nvSpPr>
        <p:spPr>
          <a:xfrm>
            <a:off x="5306178" y="1878789"/>
            <a:ext cx="3449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10"/>
              <a:buFont typeface="Inter"/>
              <a:buNone/>
            </a:pPr>
            <a:r>
              <a:rPr b="0" i="0" lang="en-GB" sz="111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each signal gets a weight value</a:t>
            </a:r>
            <a:endParaRPr b="0" i="0" sz="1110" u="none" cap="none" strike="noStrike"/>
          </a:p>
        </p:txBody>
      </p:sp>
      <p:sp>
        <p:nvSpPr>
          <p:cNvPr id="205" name="Google Shape;205;p31"/>
          <p:cNvSpPr/>
          <p:nvPr/>
        </p:nvSpPr>
        <p:spPr>
          <a:xfrm>
            <a:off x="3982703" y="2401635"/>
            <a:ext cx="440400" cy="16200"/>
          </a:xfrm>
          <a:prstGeom prst="roundRect">
            <a:avLst>
              <a:gd fmla="val 382725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6625" lIns="96625" spcFirstLastPara="1" rIns="96625" wrap="square" tIns="9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1"/>
          <p:cNvSpPr/>
          <p:nvPr/>
        </p:nvSpPr>
        <p:spPr>
          <a:xfrm>
            <a:off x="4406995" y="2244555"/>
            <a:ext cx="330300" cy="330300"/>
          </a:xfrm>
          <a:prstGeom prst="roundRect">
            <a:avLst>
              <a:gd fmla="val 18670" name="adj"/>
            </a:avLst>
          </a:prstGeom>
          <a:solidFill>
            <a:srgbClr val="DADBF1"/>
          </a:solidFill>
          <a:ln cap="flat" cmpd="sng" w="1007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625" lIns="96625" spcFirstLastPara="1" rIns="96625" wrap="square" tIns="9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1"/>
          <p:cNvSpPr/>
          <p:nvPr/>
        </p:nvSpPr>
        <p:spPr>
          <a:xfrm>
            <a:off x="4462062" y="2272056"/>
            <a:ext cx="220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91"/>
              <a:buFont typeface="Inter"/>
              <a:buNone/>
            </a:pPr>
            <a:r>
              <a:rPr b="1" i="0" lang="en-GB" sz="169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691" u="none" cap="none" strike="noStrike"/>
          </a:p>
        </p:txBody>
      </p:sp>
      <p:sp>
        <p:nvSpPr>
          <p:cNvPr id="208" name="Google Shape;208;p31"/>
          <p:cNvSpPr/>
          <p:nvPr/>
        </p:nvSpPr>
        <p:spPr>
          <a:xfrm>
            <a:off x="2002966" y="2294901"/>
            <a:ext cx="18348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27"/>
              <a:buFont typeface="Inter"/>
              <a:buNone/>
            </a:pPr>
            <a:r>
              <a:rPr b="1" i="0" lang="en-GB" sz="1427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Calculate Score</a:t>
            </a:r>
            <a:endParaRPr b="0" i="0" sz="1427" u="none" cap="none" strike="noStrike"/>
          </a:p>
        </p:txBody>
      </p:sp>
      <p:sp>
        <p:nvSpPr>
          <p:cNvPr id="209" name="Google Shape;209;p31"/>
          <p:cNvSpPr/>
          <p:nvPr/>
        </p:nvSpPr>
        <p:spPr>
          <a:xfrm>
            <a:off x="388113" y="2573693"/>
            <a:ext cx="3449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10"/>
              <a:buFont typeface="Inter"/>
              <a:buNone/>
            </a:pPr>
            <a:r>
              <a:rPr b="0" i="0" lang="en-GB" sz="111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weight × match_strength per signal</a:t>
            </a:r>
            <a:endParaRPr b="0" i="0" sz="1110" u="none" cap="none" strike="noStrike"/>
          </a:p>
        </p:txBody>
      </p:sp>
      <p:sp>
        <p:nvSpPr>
          <p:cNvPr id="210" name="Google Shape;210;p31"/>
          <p:cNvSpPr/>
          <p:nvPr/>
        </p:nvSpPr>
        <p:spPr>
          <a:xfrm>
            <a:off x="4721155" y="3096664"/>
            <a:ext cx="440400" cy="16200"/>
          </a:xfrm>
          <a:prstGeom prst="roundRect">
            <a:avLst>
              <a:gd fmla="val 382725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6625" lIns="96625" spcFirstLastPara="1" rIns="96625" wrap="square" tIns="9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1"/>
          <p:cNvSpPr/>
          <p:nvPr/>
        </p:nvSpPr>
        <p:spPr>
          <a:xfrm>
            <a:off x="4406995" y="2939584"/>
            <a:ext cx="330300" cy="330300"/>
          </a:xfrm>
          <a:prstGeom prst="roundRect">
            <a:avLst>
              <a:gd fmla="val 18670" name="adj"/>
            </a:avLst>
          </a:prstGeom>
          <a:solidFill>
            <a:srgbClr val="DADBF1"/>
          </a:solidFill>
          <a:ln cap="flat" cmpd="sng" w="1007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625" lIns="96625" spcFirstLastPara="1" rIns="96625" wrap="square" tIns="9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1"/>
          <p:cNvSpPr/>
          <p:nvPr/>
        </p:nvSpPr>
        <p:spPr>
          <a:xfrm>
            <a:off x="4462062" y="2967086"/>
            <a:ext cx="220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91"/>
              <a:buFont typeface="Inter"/>
              <a:buNone/>
            </a:pPr>
            <a:r>
              <a:rPr b="1" i="0" lang="en-GB" sz="169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691" u="none" cap="none" strike="noStrike"/>
          </a:p>
        </p:txBody>
      </p:sp>
      <p:sp>
        <p:nvSpPr>
          <p:cNvPr id="213" name="Google Shape;213;p31"/>
          <p:cNvSpPr/>
          <p:nvPr/>
        </p:nvSpPr>
        <p:spPr>
          <a:xfrm>
            <a:off x="5306178" y="2989930"/>
            <a:ext cx="18348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27"/>
              <a:buFont typeface="Inter"/>
              <a:buNone/>
            </a:pPr>
            <a:r>
              <a:rPr b="1" i="0" lang="en-GB" sz="1427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Apply Quality Bonus</a:t>
            </a:r>
            <a:endParaRPr b="0" i="0" sz="1427" u="none" cap="none" strike="noStrike"/>
          </a:p>
        </p:txBody>
      </p:sp>
      <p:sp>
        <p:nvSpPr>
          <p:cNvPr id="214" name="Google Shape;214;p31"/>
          <p:cNvSpPr/>
          <p:nvPr/>
        </p:nvSpPr>
        <p:spPr>
          <a:xfrm>
            <a:off x="5306178" y="3268722"/>
            <a:ext cx="3449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10"/>
              <a:buFont typeface="Inter"/>
              <a:buNone/>
            </a:pPr>
            <a:r>
              <a:rPr b="0" i="0" lang="en-GB" sz="111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for stronger tie-breaking</a:t>
            </a:r>
            <a:endParaRPr b="0" i="0" sz="1110" u="none" cap="none" strike="noStrike"/>
          </a:p>
        </p:txBody>
      </p:sp>
      <p:sp>
        <p:nvSpPr>
          <p:cNvPr id="215" name="Google Shape;215;p31"/>
          <p:cNvSpPr/>
          <p:nvPr/>
        </p:nvSpPr>
        <p:spPr>
          <a:xfrm>
            <a:off x="3982703" y="3791694"/>
            <a:ext cx="440400" cy="16200"/>
          </a:xfrm>
          <a:prstGeom prst="roundRect">
            <a:avLst>
              <a:gd fmla="val 382725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6625" lIns="96625" spcFirstLastPara="1" rIns="96625" wrap="square" tIns="9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1"/>
          <p:cNvSpPr/>
          <p:nvPr/>
        </p:nvSpPr>
        <p:spPr>
          <a:xfrm>
            <a:off x="4406995" y="3634614"/>
            <a:ext cx="330300" cy="330300"/>
          </a:xfrm>
          <a:prstGeom prst="roundRect">
            <a:avLst>
              <a:gd fmla="val 18670" name="adj"/>
            </a:avLst>
          </a:prstGeom>
          <a:solidFill>
            <a:srgbClr val="DADBF1"/>
          </a:solidFill>
          <a:ln cap="flat" cmpd="sng" w="1007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625" lIns="96625" spcFirstLastPara="1" rIns="96625" wrap="square" tIns="9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1"/>
          <p:cNvSpPr/>
          <p:nvPr/>
        </p:nvSpPr>
        <p:spPr>
          <a:xfrm>
            <a:off x="4462062" y="3662115"/>
            <a:ext cx="220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91"/>
              <a:buFont typeface="Inter"/>
              <a:buNone/>
            </a:pPr>
            <a:r>
              <a:rPr b="1" i="0" lang="en-GB" sz="169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691" u="none" cap="none" strike="noStrike"/>
          </a:p>
        </p:txBody>
      </p:sp>
      <p:sp>
        <p:nvSpPr>
          <p:cNvPr id="218" name="Google Shape;218;p31"/>
          <p:cNvSpPr/>
          <p:nvPr/>
        </p:nvSpPr>
        <p:spPr>
          <a:xfrm>
            <a:off x="2002966" y="3684960"/>
            <a:ext cx="18348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27"/>
              <a:buFont typeface="Inter"/>
              <a:buNone/>
            </a:pPr>
            <a:r>
              <a:rPr b="1" i="0" lang="en-GB" sz="1427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Boost by Images</a:t>
            </a:r>
            <a:endParaRPr b="0" i="0" sz="1427" u="none" cap="none" strike="noStrike"/>
          </a:p>
        </p:txBody>
      </p:sp>
      <p:sp>
        <p:nvSpPr>
          <p:cNvPr id="219" name="Google Shape;219;p31"/>
          <p:cNvSpPr/>
          <p:nvPr/>
        </p:nvSpPr>
        <p:spPr>
          <a:xfrm>
            <a:off x="388113" y="3963753"/>
            <a:ext cx="3449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10"/>
              <a:buFont typeface="Inter"/>
              <a:buNone/>
            </a:pPr>
            <a:r>
              <a:rPr b="0" i="0" lang="en-GB" sz="111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match query images</a:t>
            </a:r>
            <a:endParaRPr b="0" i="0" sz="1110" u="none" cap="none" strike="noStrike"/>
          </a:p>
        </p:txBody>
      </p:sp>
      <p:sp>
        <p:nvSpPr>
          <p:cNvPr id="220" name="Google Shape;220;p31"/>
          <p:cNvSpPr/>
          <p:nvPr/>
        </p:nvSpPr>
        <p:spPr>
          <a:xfrm>
            <a:off x="4721155" y="4486724"/>
            <a:ext cx="440400" cy="16200"/>
          </a:xfrm>
          <a:prstGeom prst="roundRect">
            <a:avLst>
              <a:gd fmla="val 382725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6625" lIns="96625" spcFirstLastPara="1" rIns="96625" wrap="square" tIns="9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1"/>
          <p:cNvSpPr/>
          <p:nvPr/>
        </p:nvSpPr>
        <p:spPr>
          <a:xfrm>
            <a:off x="4406995" y="4329643"/>
            <a:ext cx="330300" cy="330300"/>
          </a:xfrm>
          <a:prstGeom prst="roundRect">
            <a:avLst>
              <a:gd fmla="val 18670" name="adj"/>
            </a:avLst>
          </a:prstGeom>
          <a:solidFill>
            <a:srgbClr val="DADBF1"/>
          </a:solidFill>
          <a:ln cap="flat" cmpd="sng" w="1007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625" lIns="96625" spcFirstLastPara="1" rIns="96625" wrap="square" tIns="96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1"/>
          <p:cNvSpPr/>
          <p:nvPr/>
        </p:nvSpPr>
        <p:spPr>
          <a:xfrm>
            <a:off x="4462062" y="4357145"/>
            <a:ext cx="220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91"/>
              <a:buFont typeface="Inter"/>
              <a:buNone/>
            </a:pPr>
            <a:r>
              <a:rPr b="1" i="0" lang="en-GB" sz="169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1691" u="none" cap="none" strike="noStrike"/>
          </a:p>
        </p:txBody>
      </p:sp>
      <p:sp>
        <p:nvSpPr>
          <p:cNvPr id="223" name="Google Shape;223;p31"/>
          <p:cNvSpPr/>
          <p:nvPr/>
        </p:nvSpPr>
        <p:spPr>
          <a:xfrm>
            <a:off x="5306178" y="4379990"/>
            <a:ext cx="18348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27"/>
              <a:buFont typeface="Inter"/>
              <a:buNone/>
            </a:pPr>
            <a:r>
              <a:rPr b="1" i="0" lang="en-GB" sz="1427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Boost by History</a:t>
            </a:r>
            <a:endParaRPr b="0" i="0" sz="1427" u="none" cap="none" strike="noStrike"/>
          </a:p>
        </p:txBody>
      </p:sp>
      <p:sp>
        <p:nvSpPr>
          <p:cNvPr id="224" name="Google Shape;224;p31"/>
          <p:cNvSpPr/>
          <p:nvPr/>
        </p:nvSpPr>
        <p:spPr>
          <a:xfrm>
            <a:off x="5306178" y="4658782"/>
            <a:ext cx="34497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10"/>
              <a:buFont typeface="Inter"/>
              <a:buNone/>
            </a:pPr>
            <a:r>
              <a:rPr b="0" i="0" lang="en-GB" sz="111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align with past preferences</a:t>
            </a:r>
            <a:endParaRPr b="0" i="0" sz="1110" u="none" cap="none" strike="noStrike"/>
          </a:p>
        </p:txBody>
      </p:sp>
      <p:sp>
        <p:nvSpPr>
          <p:cNvPr id="225" name="Google Shape;225;p31"/>
          <p:cNvSpPr txBox="1"/>
          <p:nvPr>
            <p:ph type="title"/>
          </p:nvPr>
        </p:nvSpPr>
        <p:spPr>
          <a:xfrm>
            <a:off x="311700" y="19518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Ranking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/>
        </p:nvSpPr>
        <p:spPr>
          <a:xfrm>
            <a:off x="350000" y="60000"/>
            <a:ext cx="5059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Personlization in action</a:t>
            </a:r>
            <a:endParaRPr sz="1100"/>
          </a:p>
        </p:txBody>
      </p:sp>
      <p:sp>
        <p:nvSpPr>
          <p:cNvPr id="231" name="Google Shape;231;p32"/>
          <p:cNvSpPr txBox="1"/>
          <p:nvPr/>
        </p:nvSpPr>
        <p:spPr>
          <a:xfrm>
            <a:off x="350000" y="430000"/>
            <a:ext cx="540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NestFinder  |  same query  |  cold vs warm  |  real demo output</a:t>
            </a:r>
            <a:endParaRPr/>
          </a:p>
        </p:txBody>
      </p:sp>
      <p:sp>
        <p:nvSpPr>
          <p:cNvPr id="232" name="Google Shape;232;p32"/>
          <p:cNvSpPr/>
          <p:nvPr/>
        </p:nvSpPr>
        <p:spPr>
          <a:xfrm>
            <a:off x="6050000" y="60000"/>
            <a:ext cx="2750100" cy="480000"/>
          </a:xfrm>
          <a:prstGeom prst="roundRect">
            <a:avLst>
              <a:gd fmla="val 20000" name="adj"/>
            </a:avLst>
          </a:prstGeom>
          <a:solidFill>
            <a:srgbClr val="EEF2FA"/>
          </a:solidFill>
          <a:ln cap="flat" cmpd="sng" w="12700">
            <a:solidFill>
              <a:srgbClr val="C0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2"/>
          <p:cNvSpPr txBox="1"/>
          <p:nvPr/>
        </p:nvSpPr>
        <p:spPr>
          <a:xfrm>
            <a:off x="6110000" y="80000"/>
            <a:ext cx="26301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000" lIns="60000" spcFirstLastPara="1" rIns="60000" wrap="square" tIns="4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50" u="none" cap="none" strike="noStrike">
                <a:solidFill>
                  <a:srgbClr val="2C4A7A"/>
                </a:solidFill>
                <a:latin typeface="Courier New"/>
                <a:ea typeface="Courier New"/>
                <a:cs typeface="Courier New"/>
                <a:sym typeface="Courier New"/>
              </a:rPr>
              <a:t>“quiet apartment in Zurich,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50" u="none" cap="none" strike="noStrike">
                <a:solidFill>
                  <a:srgbClr val="2C4A7A"/>
                </a:solidFill>
                <a:latin typeface="Courier New"/>
                <a:ea typeface="Courier New"/>
                <a:cs typeface="Courier New"/>
                <a:sym typeface="Courier New"/>
              </a:rPr>
              <a:t>must have parking,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50" u="none" cap="none" strike="noStrike">
                <a:solidFill>
                  <a:srgbClr val="2C4A7A"/>
                </a:solidFill>
                <a:latin typeface="Courier New"/>
                <a:ea typeface="Courier New"/>
                <a:cs typeface="Courier New"/>
                <a:sym typeface="Courier New"/>
              </a:rPr>
              <a:t>balcony would be nice”</a:t>
            </a:r>
            <a:endParaRPr/>
          </a:p>
        </p:txBody>
      </p:sp>
      <p:sp>
        <p:nvSpPr>
          <p:cNvPr id="234" name="Google Shape;234;p32"/>
          <p:cNvSpPr/>
          <p:nvPr/>
        </p:nvSpPr>
        <p:spPr>
          <a:xfrm>
            <a:off x="4522000" y="660000"/>
            <a:ext cx="9525" cy="3285000"/>
          </a:xfrm>
          <a:prstGeom prst="rect">
            <a:avLst/>
          </a:prstGeom>
          <a:solidFill>
            <a:srgbClr val="D8E0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2"/>
          <p:cNvSpPr/>
          <p:nvPr/>
        </p:nvSpPr>
        <p:spPr>
          <a:xfrm>
            <a:off x="350000" y="670000"/>
            <a:ext cx="580000" cy="160000"/>
          </a:xfrm>
          <a:prstGeom prst="roundRect">
            <a:avLst>
              <a:gd fmla="val 50000" name="adj"/>
            </a:avLst>
          </a:prstGeom>
          <a:solidFill>
            <a:srgbClr val="E2E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2"/>
          <p:cNvSpPr txBox="1"/>
          <p:nvPr/>
        </p:nvSpPr>
        <p:spPr>
          <a:xfrm>
            <a:off x="350000" y="670000"/>
            <a:ext cx="57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5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COLD</a:t>
            </a:r>
            <a:endParaRPr/>
          </a:p>
        </p:txBody>
      </p:sp>
      <p:sp>
        <p:nvSpPr>
          <p:cNvPr id="237" name="Google Shape;237;p32"/>
          <p:cNvSpPr txBox="1"/>
          <p:nvPr/>
        </p:nvSpPr>
        <p:spPr>
          <a:xfrm>
            <a:off x="970000" y="675000"/>
            <a:ext cx="3200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5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No history  |  flat weights  |  generic reasons</a:t>
            </a:r>
            <a:endParaRPr/>
          </a:p>
        </p:txBody>
      </p:sp>
      <p:sp>
        <p:nvSpPr>
          <p:cNvPr id="238" name="Google Shape;238;p32"/>
          <p:cNvSpPr/>
          <p:nvPr/>
        </p:nvSpPr>
        <p:spPr>
          <a:xfrm>
            <a:off x="350000" y="848000"/>
            <a:ext cx="4050000" cy="9525"/>
          </a:xfrm>
          <a:prstGeom prst="rect">
            <a:avLst/>
          </a:prstGeom>
          <a:solidFill>
            <a:srgbClr val="D8E0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2"/>
          <p:cNvSpPr/>
          <p:nvPr/>
        </p:nvSpPr>
        <p:spPr>
          <a:xfrm>
            <a:off x="350000" y="878000"/>
            <a:ext cx="4050000" cy="520000"/>
          </a:xfrm>
          <a:prstGeom prst="roundRect">
            <a:avLst>
              <a:gd fmla="val 12000" name="adj"/>
            </a:avLst>
          </a:prstGeom>
          <a:solidFill>
            <a:srgbClr val="F8FAFF"/>
          </a:solidFill>
          <a:ln cap="flat" cmpd="sng" w="9525">
            <a:solidFill>
              <a:srgbClr val="D8E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2"/>
          <p:cNvSpPr txBox="1"/>
          <p:nvPr/>
        </p:nvSpPr>
        <p:spPr>
          <a:xfrm>
            <a:off x="400000" y="903000"/>
            <a:ext cx="39501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#1  </a:t>
            </a:r>
            <a:r>
              <a:rPr b="1" i="0" lang="en-GB" sz="850" u="none" cap="none" strike="noStrike">
                <a:solidFill>
                  <a:srgbClr val="1A2C4A"/>
                </a:solidFill>
                <a:latin typeface="Calibri"/>
                <a:ea typeface="Calibri"/>
                <a:cs typeface="Calibri"/>
                <a:sym typeface="Calibri"/>
              </a:rPr>
              <a:t>Studio Apt — Weinbergstrasse</a:t>
            </a:r>
            <a:r>
              <a:rPr b="0" i="0" lang="en-GB" sz="820" u="none" cap="none" strike="noStrike">
                <a:solidFill>
                  <a:srgbClr val="1E5FA5"/>
                </a:solidFill>
                <a:latin typeface="Calibri"/>
                <a:ea typeface="Calibri"/>
                <a:cs typeface="Calibri"/>
                <a:sym typeface="Calibri"/>
              </a:rPr>
              <a:t>   CHF 1900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8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Zurich | 1.0r | Score: 2.200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6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quiet | balcony | weights x1.0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74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Matched soft filters. Flat weights, no personalization.</a:t>
            </a:r>
            <a:endParaRPr/>
          </a:p>
        </p:txBody>
      </p:sp>
      <p:sp>
        <p:nvSpPr>
          <p:cNvPr id="241" name="Google Shape;241;p32"/>
          <p:cNvSpPr/>
          <p:nvPr/>
        </p:nvSpPr>
        <p:spPr>
          <a:xfrm>
            <a:off x="350000" y="1438000"/>
            <a:ext cx="4050000" cy="520000"/>
          </a:xfrm>
          <a:prstGeom prst="roundRect">
            <a:avLst>
              <a:gd fmla="val 12000" name="adj"/>
            </a:avLst>
          </a:prstGeom>
          <a:solidFill>
            <a:srgbClr val="F8FAFF"/>
          </a:solidFill>
          <a:ln cap="flat" cmpd="sng" w="9525">
            <a:solidFill>
              <a:srgbClr val="D8E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2"/>
          <p:cNvSpPr txBox="1"/>
          <p:nvPr/>
        </p:nvSpPr>
        <p:spPr>
          <a:xfrm>
            <a:off x="400000" y="1463000"/>
            <a:ext cx="39501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50" u="none" cap="none" strike="noStrike">
                <a:solidFill>
                  <a:srgbClr val="3A6080"/>
                </a:solidFill>
                <a:latin typeface="Calibri"/>
                <a:ea typeface="Calibri"/>
                <a:cs typeface="Calibri"/>
                <a:sym typeface="Calibri"/>
              </a:rPr>
              <a:t>#2  </a:t>
            </a:r>
            <a:r>
              <a:rPr b="1" i="0" lang="en-GB" sz="850" u="none" cap="none" strike="noStrike">
                <a:solidFill>
                  <a:srgbClr val="1A2C4A"/>
                </a:solidFill>
                <a:latin typeface="Calibri"/>
                <a:ea typeface="Calibri"/>
                <a:cs typeface="Calibri"/>
                <a:sym typeface="Calibri"/>
              </a:rPr>
              <a:t>Neubauwohnung in Zurich</a:t>
            </a:r>
            <a:r>
              <a:rPr b="0" i="0" lang="en-GB" sz="820" u="none" cap="none" strike="noStrike">
                <a:solidFill>
                  <a:srgbClr val="1E5FA5"/>
                </a:solidFill>
                <a:latin typeface="Calibri"/>
                <a:ea typeface="Calibri"/>
                <a:cs typeface="Calibri"/>
                <a:sym typeface="Calibri"/>
              </a:rPr>
              <a:t>   CHF 3080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8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Zurich | 3.5r | Score: 1.660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6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parking | balcony | weights x1.0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74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Matched soft filters. No preference signal.</a:t>
            </a:r>
            <a:endParaRPr/>
          </a:p>
        </p:txBody>
      </p:sp>
      <p:sp>
        <p:nvSpPr>
          <p:cNvPr id="243" name="Google Shape;243;p32"/>
          <p:cNvSpPr/>
          <p:nvPr/>
        </p:nvSpPr>
        <p:spPr>
          <a:xfrm>
            <a:off x="350000" y="1998000"/>
            <a:ext cx="4050000" cy="520000"/>
          </a:xfrm>
          <a:prstGeom prst="roundRect">
            <a:avLst>
              <a:gd fmla="val 12000" name="adj"/>
            </a:avLst>
          </a:prstGeom>
          <a:solidFill>
            <a:srgbClr val="F8FAFF"/>
          </a:solidFill>
          <a:ln cap="flat" cmpd="sng" w="9525">
            <a:solidFill>
              <a:srgbClr val="D8E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2"/>
          <p:cNvSpPr txBox="1"/>
          <p:nvPr/>
        </p:nvSpPr>
        <p:spPr>
          <a:xfrm>
            <a:off x="400000" y="2023000"/>
            <a:ext cx="39501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50" u="none" cap="none" strike="noStrike">
                <a:solidFill>
                  <a:srgbClr val="805A00"/>
                </a:solidFill>
                <a:latin typeface="Calibri"/>
                <a:ea typeface="Calibri"/>
                <a:cs typeface="Calibri"/>
                <a:sym typeface="Calibri"/>
              </a:rPr>
              <a:t>#3  </a:t>
            </a:r>
            <a:r>
              <a:rPr b="1" i="0" lang="en-GB" sz="850" u="none" cap="none" strike="noStrike">
                <a:solidFill>
                  <a:srgbClr val="1A2C4A"/>
                </a:solidFill>
                <a:latin typeface="Calibri"/>
                <a:ea typeface="Calibri"/>
                <a:cs typeface="Calibri"/>
                <a:sym typeface="Calibri"/>
              </a:rPr>
              <a:t>Modernes Wohnen im Guggachpark</a:t>
            </a:r>
            <a:r>
              <a:rPr b="0" i="0" lang="en-GB" sz="820" u="none" cap="none" strike="noStrike">
                <a:solidFill>
                  <a:srgbClr val="1E5FA5"/>
                </a:solidFill>
                <a:latin typeface="Calibri"/>
                <a:ea typeface="Calibri"/>
                <a:cs typeface="Calibri"/>
                <a:sym typeface="Calibri"/>
              </a:rPr>
              <a:t>   CHF 3910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8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Zurich | 4.5r | Score: 1.660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6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parking | balcony | weights x1.0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74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Matched soft filters. Flat weights.</a:t>
            </a:r>
            <a:endParaRPr/>
          </a:p>
        </p:txBody>
      </p:sp>
      <p:sp>
        <p:nvSpPr>
          <p:cNvPr id="245" name="Google Shape;245;p32"/>
          <p:cNvSpPr/>
          <p:nvPr/>
        </p:nvSpPr>
        <p:spPr>
          <a:xfrm>
            <a:off x="350000" y="2558000"/>
            <a:ext cx="4050000" cy="520000"/>
          </a:xfrm>
          <a:prstGeom prst="roundRect">
            <a:avLst>
              <a:gd fmla="val 12000" name="adj"/>
            </a:avLst>
          </a:prstGeom>
          <a:solidFill>
            <a:srgbClr val="FFF5F5"/>
          </a:solidFill>
          <a:ln cap="flat" cmpd="sng" w="19050">
            <a:solidFill>
              <a:srgbClr val="E8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2"/>
          <p:cNvSpPr txBox="1"/>
          <p:nvPr/>
        </p:nvSpPr>
        <p:spPr>
          <a:xfrm>
            <a:off x="400000" y="2583000"/>
            <a:ext cx="39501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#4 v  </a:t>
            </a:r>
            <a:r>
              <a:rPr b="1" i="0" lang="en-GB" sz="850" u="none" cap="none" strike="noStrike">
                <a:solidFill>
                  <a:srgbClr val="1A2C4A"/>
                </a:solidFill>
                <a:latin typeface="Calibri"/>
                <a:ea typeface="Calibri"/>
                <a:cs typeface="Calibri"/>
                <a:sym typeface="Calibri"/>
              </a:rPr>
              <a:t>Wohnung an ruhiger und zentraler Lage</a:t>
            </a:r>
            <a:r>
              <a:rPr b="0" i="0" lang="en-GB" sz="820" u="none" cap="none" strike="noStrike">
                <a:solidFill>
                  <a:srgbClr val="1E5FA5"/>
                </a:solidFill>
                <a:latin typeface="Calibri"/>
                <a:ea typeface="Calibri"/>
                <a:cs typeface="Calibri"/>
                <a:sym typeface="Calibri"/>
              </a:rPr>
              <a:t>   CHF 2330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8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Zurich | 3.0r | Score: 0.400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6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balcony only | no elevator signal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740" u="none" cap="none" strike="noStrike">
                <a:solidFill>
                  <a:srgbClr val="C0504A"/>
                </a:solidFill>
                <a:latin typeface="Calibri"/>
                <a:ea typeface="Calibri"/>
                <a:cs typeface="Calibri"/>
                <a:sym typeface="Calibri"/>
              </a:rPr>
              <a:t>Will drop to #5 in warm — outranked by elevator affinity.</a:t>
            </a:r>
            <a:endParaRPr/>
          </a:p>
        </p:txBody>
      </p:sp>
      <p:sp>
        <p:nvSpPr>
          <p:cNvPr id="247" name="Google Shape;247;p32"/>
          <p:cNvSpPr/>
          <p:nvPr/>
        </p:nvSpPr>
        <p:spPr>
          <a:xfrm>
            <a:off x="350000" y="3118000"/>
            <a:ext cx="4050000" cy="520000"/>
          </a:xfrm>
          <a:prstGeom prst="roundRect">
            <a:avLst>
              <a:gd fmla="val 12000" name="adj"/>
            </a:avLst>
          </a:prstGeom>
          <a:solidFill>
            <a:srgbClr val="F2FBF2"/>
          </a:solidFill>
          <a:ln cap="flat" cmpd="sng" w="19050">
            <a:solidFill>
              <a:srgbClr val="88C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2"/>
          <p:cNvSpPr txBox="1"/>
          <p:nvPr/>
        </p:nvSpPr>
        <p:spPr>
          <a:xfrm>
            <a:off x="400000" y="3143000"/>
            <a:ext cx="39501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#5 ^  </a:t>
            </a:r>
            <a:r>
              <a:rPr b="1" i="0" lang="en-GB" sz="850" u="none" cap="none" strike="noStrike">
                <a:solidFill>
                  <a:srgbClr val="1A2C4A"/>
                </a:solidFill>
                <a:latin typeface="Calibri"/>
                <a:ea typeface="Calibri"/>
                <a:cs typeface="Calibri"/>
                <a:sym typeface="Calibri"/>
              </a:rPr>
              <a:t>Wohnen im Trendquartier — 3.5 Zimmer</a:t>
            </a:r>
            <a:r>
              <a:rPr b="0" i="0" lang="en-GB" sz="820" u="none" cap="none" strike="noStrike">
                <a:solidFill>
                  <a:srgbClr val="1E5FA5"/>
                </a:solidFill>
                <a:latin typeface="Calibri"/>
                <a:ea typeface="Calibri"/>
                <a:cs typeface="Calibri"/>
                <a:sym typeface="Calibri"/>
              </a:rPr>
              <a:t>   CHF 3190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8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Zurich | 3.5r | Score: 0.400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6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balcony | elevator in description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740" u="none" cap="none" strike="noStrike">
                <a:solidFill>
                  <a:srgbClr val="2E7A2E"/>
                </a:solidFill>
                <a:latin typeface="Calibri"/>
                <a:ea typeface="Calibri"/>
                <a:cs typeface="Calibri"/>
                <a:sym typeface="Calibri"/>
              </a:rPr>
              <a:t>Will rise to #4 in warm — elevator matches user affinity.</a:t>
            </a:r>
            <a:endParaRPr/>
          </a:p>
        </p:txBody>
      </p:sp>
      <p:sp>
        <p:nvSpPr>
          <p:cNvPr id="249" name="Google Shape;249;p32"/>
          <p:cNvSpPr/>
          <p:nvPr/>
        </p:nvSpPr>
        <p:spPr>
          <a:xfrm>
            <a:off x="4660000" y="670000"/>
            <a:ext cx="620100" cy="159900"/>
          </a:xfrm>
          <a:prstGeom prst="roundRect">
            <a:avLst>
              <a:gd fmla="val 50000" name="adj"/>
            </a:avLst>
          </a:prstGeom>
          <a:solidFill>
            <a:srgbClr val="D6F0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2"/>
          <p:cNvSpPr txBox="1"/>
          <p:nvPr/>
        </p:nvSpPr>
        <p:spPr>
          <a:xfrm>
            <a:off x="4660000" y="670000"/>
            <a:ext cx="6201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50" u="none" cap="none" strike="noStrike">
                <a:solidFill>
                  <a:srgbClr val="2E7A2E"/>
                </a:solidFill>
                <a:latin typeface="Calibri"/>
                <a:ea typeface="Calibri"/>
                <a:cs typeface="Calibri"/>
                <a:sym typeface="Calibri"/>
              </a:rPr>
              <a:t>WARM</a:t>
            </a:r>
            <a:endParaRPr/>
          </a:p>
        </p:txBody>
      </p:sp>
      <p:sp>
        <p:nvSpPr>
          <p:cNvPr id="251" name="Google Shape;251;p32"/>
          <p:cNvSpPr txBox="1"/>
          <p:nvPr/>
        </p:nvSpPr>
        <p:spPr>
          <a:xfrm>
            <a:off x="5320000" y="675000"/>
            <a:ext cx="3380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5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Profile applied  |  clicks, favorites, price range</a:t>
            </a:r>
            <a:endParaRPr/>
          </a:p>
        </p:txBody>
      </p:sp>
      <p:sp>
        <p:nvSpPr>
          <p:cNvPr id="252" name="Google Shape;252;p32"/>
          <p:cNvSpPr/>
          <p:nvPr/>
        </p:nvSpPr>
        <p:spPr>
          <a:xfrm>
            <a:off x="4660000" y="848000"/>
            <a:ext cx="4140000" cy="9525"/>
          </a:xfrm>
          <a:prstGeom prst="rect">
            <a:avLst/>
          </a:prstGeom>
          <a:solidFill>
            <a:srgbClr val="D8E0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2"/>
          <p:cNvSpPr/>
          <p:nvPr/>
        </p:nvSpPr>
        <p:spPr>
          <a:xfrm>
            <a:off x="4660000" y="878000"/>
            <a:ext cx="4140000" cy="520000"/>
          </a:xfrm>
          <a:prstGeom prst="roundRect">
            <a:avLst>
              <a:gd fmla="val 12000" name="adj"/>
            </a:avLst>
          </a:prstGeom>
          <a:solidFill>
            <a:srgbClr val="F0FAF0"/>
          </a:solidFill>
          <a:ln cap="flat" cmpd="sng" w="19050">
            <a:solidFill>
              <a:srgbClr val="2E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2"/>
          <p:cNvSpPr txBox="1"/>
          <p:nvPr/>
        </p:nvSpPr>
        <p:spPr>
          <a:xfrm>
            <a:off x="4710000" y="903000"/>
            <a:ext cx="40401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#1  </a:t>
            </a:r>
            <a:r>
              <a:rPr b="1" i="0" lang="en-GB" sz="850" u="none" cap="none" strike="noStrike">
                <a:solidFill>
                  <a:srgbClr val="1A2C4A"/>
                </a:solidFill>
                <a:latin typeface="Calibri"/>
                <a:ea typeface="Calibri"/>
                <a:cs typeface="Calibri"/>
                <a:sym typeface="Calibri"/>
              </a:rPr>
              <a:t>Studio Apt — Weinbergstrasse</a:t>
            </a:r>
            <a:r>
              <a:rPr b="0" i="0" lang="en-GB" sz="820" u="none" cap="none" strike="noStrike">
                <a:solidFill>
                  <a:srgbClr val="1E5FA5"/>
                </a:solidFill>
                <a:latin typeface="Calibri"/>
                <a:ea typeface="Calibri"/>
                <a:cs typeface="Calibri"/>
                <a:sym typeface="Calibri"/>
              </a:rPr>
              <a:t>   CHF 1900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8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Zurich | 1.0r | Score: 2.345 (+0.145) | clicked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6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quiet | balcony | preferred city | price CHF 1910-2073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740" u="none" cap="none" strike="noStrike">
                <a:solidFill>
                  <a:srgbClr val="2E7A2E"/>
                </a:solidFill>
                <a:latin typeface="Calibri"/>
                <a:ea typeface="Calibri"/>
                <a:cs typeface="Calibri"/>
                <a:sym typeface="Calibri"/>
              </a:rPr>
              <a:t>Personalised: preferred city, price range, previously clicked.</a:t>
            </a:r>
            <a:endParaRPr/>
          </a:p>
        </p:txBody>
      </p:sp>
      <p:sp>
        <p:nvSpPr>
          <p:cNvPr id="255" name="Google Shape;255;p32"/>
          <p:cNvSpPr/>
          <p:nvPr/>
        </p:nvSpPr>
        <p:spPr>
          <a:xfrm>
            <a:off x="4660000" y="1438000"/>
            <a:ext cx="4140000" cy="520000"/>
          </a:xfrm>
          <a:prstGeom prst="roundRect">
            <a:avLst>
              <a:gd fmla="val 12000" name="adj"/>
            </a:avLst>
          </a:prstGeom>
          <a:solidFill>
            <a:srgbClr val="F8FAFF"/>
          </a:solidFill>
          <a:ln cap="flat" cmpd="sng" w="9525">
            <a:solidFill>
              <a:srgbClr val="D8E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2"/>
          <p:cNvSpPr txBox="1"/>
          <p:nvPr/>
        </p:nvSpPr>
        <p:spPr>
          <a:xfrm>
            <a:off x="4710000" y="1463000"/>
            <a:ext cx="40401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50" u="none" cap="none" strike="noStrike">
                <a:solidFill>
                  <a:srgbClr val="3A6080"/>
                </a:solidFill>
                <a:latin typeface="Calibri"/>
                <a:ea typeface="Calibri"/>
                <a:cs typeface="Calibri"/>
                <a:sym typeface="Calibri"/>
              </a:rPr>
              <a:t>#2  </a:t>
            </a:r>
            <a:r>
              <a:rPr b="1" i="0" lang="en-GB" sz="850" u="none" cap="none" strike="noStrike">
                <a:solidFill>
                  <a:srgbClr val="1A2C4A"/>
                </a:solidFill>
                <a:latin typeface="Calibri"/>
                <a:ea typeface="Calibri"/>
                <a:cs typeface="Calibri"/>
                <a:sym typeface="Calibri"/>
              </a:rPr>
              <a:t>Neubauwohnung in Zurich</a:t>
            </a:r>
            <a:r>
              <a:rPr b="0" i="0" lang="en-GB" sz="820" u="none" cap="none" strike="noStrike">
                <a:solidFill>
                  <a:srgbClr val="1E5FA5"/>
                </a:solidFill>
                <a:latin typeface="Calibri"/>
                <a:ea typeface="Calibri"/>
                <a:cs typeface="Calibri"/>
                <a:sym typeface="Calibri"/>
              </a:rPr>
              <a:t>   CHF 3080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8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Zurich | 3.5r | Score: 1.780 (+0.120)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6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parking | balcony | preferred city boost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740" u="none" cap="none" strike="noStrike">
                <a:solidFill>
                  <a:srgbClr val="2E7A2E"/>
                </a:solidFill>
                <a:latin typeface="Calibri"/>
                <a:ea typeface="Calibri"/>
                <a:cs typeface="Calibri"/>
                <a:sym typeface="Calibri"/>
              </a:rPr>
              <a:t>Personalised: preferred city boost applied.</a:t>
            </a:r>
            <a:endParaRPr/>
          </a:p>
        </p:txBody>
      </p:sp>
      <p:sp>
        <p:nvSpPr>
          <p:cNvPr id="257" name="Google Shape;257;p32"/>
          <p:cNvSpPr/>
          <p:nvPr/>
        </p:nvSpPr>
        <p:spPr>
          <a:xfrm>
            <a:off x="4660000" y="1998000"/>
            <a:ext cx="4140000" cy="520000"/>
          </a:xfrm>
          <a:prstGeom prst="roundRect">
            <a:avLst>
              <a:gd fmla="val 12000" name="adj"/>
            </a:avLst>
          </a:prstGeom>
          <a:solidFill>
            <a:srgbClr val="F8FAFF"/>
          </a:solidFill>
          <a:ln cap="flat" cmpd="sng" w="9525">
            <a:solidFill>
              <a:srgbClr val="D8E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2"/>
          <p:cNvSpPr txBox="1"/>
          <p:nvPr/>
        </p:nvSpPr>
        <p:spPr>
          <a:xfrm>
            <a:off x="4710000" y="2023000"/>
            <a:ext cx="40401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50" u="none" cap="none" strike="noStrike">
                <a:solidFill>
                  <a:srgbClr val="805A00"/>
                </a:solidFill>
                <a:latin typeface="Calibri"/>
                <a:ea typeface="Calibri"/>
                <a:cs typeface="Calibri"/>
                <a:sym typeface="Calibri"/>
              </a:rPr>
              <a:t>#3  </a:t>
            </a:r>
            <a:r>
              <a:rPr b="1" i="0" lang="en-GB" sz="850" u="none" cap="none" strike="noStrike">
                <a:solidFill>
                  <a:srgbClr val="1A2C4A"/>
                </a:solidFill>
                <a:latin typeface="Calibri"/>
                <a:ea typeface="Calibri"/>
                <a:cs typeface="Calibri"/>
                <a:sym typeface="Calibri"/>
              </a:rPr>
              <a:t>Modernes Wohnen im Guggachpark</a:t>
            </a:r>
            <a:r>
              <a:rPr b="0" i="0" lang="en-GB" sz="820" u="none" cap="none" strike="noStrike">
                <a:solidFill>
                  <a:srgbClr val="1E5FA5"/>
                </a:solidFill>
                <a:latin typeface="Calibri"/>
                <a:ea typeface="Calibri"/>
                <a:cs typeface="Calibri"/>
                <a:sym typeface="Calibri"/>
              </a:rPr>
              <a:t>   CHF 3910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8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Zurich | 4.5r | Score: 1.740 (+0.080)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6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parking | balcony | preferred city boost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740" u="none" cap="none" strike="noStrike">
                <a:solidFill>
                  <a:srgbClr val="2E7A2E"/>
                </a:solidFill>
                <a:latin typeface="Calibri"/>
                <a:ea typeface="Calibri"/>
                <a:cs typeface="Calibri"/>
                <a:sym typeface="Calibri"/>
              </a:rPr>
              <a:t>Personalised: preferred city boost applied.</a:t>
            </a:r>
            <a:endParaRPr/>
          </a:p>
        </p:txBody>
      </p:sp>
      <p:sp>
        <p:nvSpPr>
          <p:cNvPr id="259" name="Google Shape;259;p32"/>
          <p:cNvSpPr/>
          <p:nvPr/>
        </p:nvSpPr>
        <p:spPr>
          <a:xfrm>
            <a:off x="4660000" y="2558000"/>
            <a:ext cx="4140000" cy="520000"/>
          </a:xfrm>
          <a:prstGeom prst="roundRect">
            <a:avLst>
              <a:gd fmla="val 12000" name="adj"/>
            </a:avLst>
          </a:prstGeom>
          <a:solidFill>
            <a:srgbClr val="F0FAF0"/>
          </a:solidFill>
          <a:ln cap="flat" cmpd="sng" w="19050">
            <a:solidFill>
              <a:srgbClr val="2E8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2"/>
          <p:cNvSpPr txBox="1"/>
          <p:nvPr/>
        </p:nvSpPr>
        <p:spPr>
          <a:xfrm>
            <a:off x="4710000" y="2583000"/>
            <a:ext cx="40401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50" u="none" cap="none" strike="noStrike">
                <a:solidFill>
                  <a:srgbClr val="2E7A2E"/>
                </a:solidFill>
                <a:latin typeface="Calibri"/>
                <a:ea typeface="Calibri"/>
                <a:cs typeface="Calibri"/>
                <a:sym typeface="Calibri"/>
              </a:rPr>
              <a:t>#4 ^  </a:t>
            </a:r>
            <a:r>
              <a:rPr b="1" i="0" lang="en-GB" sz="850" u="none" cap="none" strike="noStrike">
                <a:solidFill>
                  <a:srgbClr val="1A2C4A"/>
                </a:solidFill>
                <a:latin typeface="Calibri"/>
                <a:ea typeface="Calibri"/>
                <a:cs typeface="Calibri"/>
                <a:sym typeface="Calibri"/>
              </a:rPr>
              <a:t>Wohnen im Trendquartier — 3.5 Zimmer</a:t>
            </a:r>
            <a:r>
              <a:rPr b="0" i="0" lang="en-GB" sz="820" u="none" cap="none" strike="noStrike">
                <a:solidFill>
                  <a:srgbClr val="1E5FA5"/>
                </a:solidFill>
                <a:latin typeface="Calibri"/>
                <a:ea typeface="Calibri"/>
                <a:cs typeface="Calibri"/>
                <a:sym typeface="Calibri"/>
              </a:rPr>
              <a:t>   CHF 3190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8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Zurich | 3.5r | Score: 0.520 (+0.120)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6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balcony | elevator match | preferred city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740" u="none" cap="none" strike="noStrike">
                <a:solidFill>
                  <a:srgbClr val="2E7A2E"/>
                </a:solidFill>
                <a:latin typeface="Calibri"/>
                <a:ea typeface="Calibri"/>
                <a:cs typeface="Calibri"/>
                <a:sym typeface="Calibri"/>
              </a:rPr>
              <a:t>Rose from #5 — elevator preference in user profile matched.</a:t>
            </a:r>
            <a:endParaRPr/>
          </a:p>
        </p:txBody>
      </p:sp>
      <p:sp>
        <p:nvSpPr>
          <p:cNvPr id="261" name="Google Shape;261;p32"/>
          <p:cNvSpPr/>
          <p:nvPr/>
        </p:nvSpPr>
        <p:spPr>
          <a:xfrm>
            <a:off x="4660000" y="3118000"/>
            <a:ext cx="4140000" cy="520000"/>
          </a:xfrm>
          <a:prstGeom prst="roundRect">
            <a:avLst>
              <a:gd fmla="val 12000" name="adj"/>
            </a:avLst>
          </a:prstGeom>
          <a:solidFill>
            <a:srgbClr val="FFF5F5"/>
          </a:solidFill>
          <a:ln cap="flat" cmpd="sng" w="19050">
            <a:solidFill>
              <a:srgbClr val="E8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2"/>
          <p:cNvSpPr txBox="1"/>
          <p:nvPr/>
        </p:nvSpPr>
        <p:spPr>
          <a:xfrm>
            <a:off x="4710000" y="3143000"/>
            <a:ext cx="40401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000" lIns="60000" spcFirstLastPara="1" rIns="60000" wrap="square" tIns="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50" u="none" cap="none" strike="noStrike">
                <a:solidFill>
                  <a:srgbClr val="C0504A"/>
                </a:solidFill>
                <a:latin typeface="Calibri"/>
                <a:ea typeface="Calibri"/>
                <a:cs typeface="Calibri"/>
                <a:sym typeface="Calibri"/>
              </a:rPr>
              <a:t>#5 v  </a:t>
            </a:r>
            <a:r>
              <a:rPr b="1" i="0" lang="en-GB" sz="850" u="none" cap="none" strike="noStrike">
                <a:solidFill>
                  <a:srgbClr val="1A2C4A"/>
                </a:solidFill>
                <a:latin typeface="Calibri"/>
                <a:ea typeface="Calibri"/>
                <a:cs typeface="Calibri"/>
                <a:sym typeface="Calibri"/>
              </a:rPr>
              <a:t>Wohnung an ruhiger und zentraler Lage</a:t>
            </a:r>
            <a:r>
              <a:rPr b="0" i="0" lang="en-GB" sz="820" u="none" cap="none" strike="noStrike">
                <a:solidFill>
                  <a:srgbClr val="1E5FA5"/>
                </a:solidFill>
                <a:latin typeface="Calibri"/>
                <a:ea typeface="Calibri"/>
                <a:cs typeface="Calibri"/>
                <a:sym typeface="Calibri"/>
              </a:rPr>
              <a:t>   CHF 2330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8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Zurich | 3.0r | Score: 0.480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6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balcony | preferred city | no elevator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740" u="none" cap="none" strike="noStrike">
                <a:solidFill>
                  <a:srgbClr val="C0504A"/>
                </a:solidFill>
                <a:latin typeface="Calibri"/>
                <a:ea typeface="Calibri"/>
                <a:cs typeface="Calibri"/>
                <a:sym typeface="Calibri"/>
              </a:rPr>
              <a:t>Dropped from #4 — no elevator signal, outranked by Trendquartier.</a:t>
            </a:r>
            <a:endParaRPr/>
          </a:p>
        </p:txBody>
      </p:sp>
      <p:sp>
        <p:nvSpPr>
          <p:cNvPr id="263" name="Google Shape;263;p32"/>
          <p:cNvSpPr/>
          <p:nvPr/>
        </p:nvSpPr>
        <p:spPr>
          <a:xfrm>
            <a:off x="350000" y="3728000"/>
            <a:ext cx="4050000" cy="1305500"/>
          </a:xfrm>
          <a:prstGeom prst="roundRect">
            <a:avLst>
              <a:gd fmla="val 8000" name="adj"/>
            </a:avLst>
          </a:prstGeom>
          <a:solidFill>
            <a:srgbClr val="F2F5FB"/>
          </a:solidFill>
          <a:ln cap="flat" cmpd="sng" w="9525">
            <a:solidFill>
              <a:srgbClr val="D0DA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2"/>
          <p:cNvSpPr txBox="1"/>
          <p:nvPr/>
        </p:nvSpPr>
        <p:spPr>
          <a:xfrm>
            <a:off x="430000" y="3778000"/>
            <a:ext cx="3890100" cy="12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5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RANKING DELTA — COLD TO WARM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#1  </a:t>
            </a:r>
            <a:r>
              <a:rPr b="0" i="0" lang="en-GB" sz="9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Studio — Weinbergstrasse</a:t>
            </a:r>
            <a:r>
              <a:rPr b="0" i="0" lang="en-GB" sz="82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   was #1  |  score +0.145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#2  </a:t>
            </a:r>
            <a:r>
              <a:rPr b="0" i="0" lang="en-GB" sz="9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Neubauwohnung Zurich</a:t>
            </a:r>
            <a:r>
              <a:rPr b="0" i="0" lang="en-GB" sz="82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   was #2  |  score +0.120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#3  </a:t>
            </a:r>
            <a:r>
              <a:rPr b="0" i="0" lang="en-GB" sz="9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Modernes Wohnen Guggachpark</a:t>
            </a:r>
            <a:r>
              <a:rPr b="0" i="0" lang="en-GB" sz="820" u="none" cap="none" strike="noStrike">
                <a:solidFill>
                  <a:srgbClr val="9AAAC0"/>
                </a:solidFill>
                <a:latin typeface="Calibri"/>
                <a:ea typeface="Calibri"/>
                <a:cs typeface="Calibri"/>
                <a:sym typeface="Calibri"/>
              </a:rPr>
              <a:t>   was #3  |  score +0.080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2E7A2E"/>
                </a:solidFill>
                <a:latin typeface="Calibri"/>
                <a:ea typeface="Calibri"/>
                <a:cs typeface="Calibri"/>
                <a:sym typeface="Calibri"/>
              </a:rPr>
              <a:t>#4 ▲  </a:t>
            </a:r>
            <a:r>
              <a:rPr b="0" i="0" lang="en-GB" sz="9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Trendquartier</a:t>
            </a:r>
            <a:r>
              <a:rPr b="0" i="0" lang="en-GB" sz="820" u="none" cap="none" strike="noStrike">
                <a:solidFill>
                  <a:srgbClr val="2E7A2E"/>
                </a:solidFill>
                <a:latin typeface="Calibri"/>
                <a:ea typeface="Calibri"/>
                <a:cs typeface="Calibri"/>
                <a:sym typeface="Calibri"/>
              </a:rPr>
              <a:t>   was #5  |  elevator boost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C0504A"/>
                </a:solidFill>
                <a:latin typeface="Calibri"/>
                <a:ea typeface="Calibri"/>
                <a:cs typeface="Calibri"/>
                <a:sym typeface="Calibri"/>
              </a:rPr>
              <a:t>#5 ▼  </a:t>
            </a:r>
            <a:r>
              <a:rPr b="0" i="0" lang="en-GB" sz="9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Wohnung ruhiger Lage</a:t>
            </a:r>
            <a:r>
              <a:rPr b="0" i="0" lang="en-GB" sz="820" u="none" cap="none" strike="noStrike">
                <a:solidFill>
                  <a:srgbClr val="C0504A"/>
                </a:solidFill>
                <a:latin typeface="Calibri"/>
                <a:ea typeface="Calibri"/>
                <a:cs typeface="Calibri"/>
                <a:sym typeface="Calibri"/>
              </a:rPr>
              <a:t>   was #4  |  no elevator</a:t>
            </a:r>
            <a:endParaRPr/>
          </a:p>
        </p:txBody>
      </p:sp>
      <p:sp>
        <p:nvSpPr>
          <p:cNvPr id="265" name="Google Shape;265;p32"/>
          <p:cNvSpPr/>
          <p:nvPr/>
        </p:nvSpPr>
        <p:spPr>
          <a:xfrm>
            <a:off x="4660000" y="3728000"/>
            <a:ext cx="4140000" cy="1305500"/>
          </a:xfrm>
          <a:prstGeom prst="roundRect">
            <a:avLst>
              <a:gd fmla="val 8000" name="adj"/>
            </a:avLst>
          </a:prstGeom>
          <a:solidFill>
            <a:srgbClr val="F2F5FB"/>
          </a:solidFill>
          <a:ln cap="flat" cmpd="sng" w="9525">
            <a:solidFill>
              <a:srgbClr val="D0DA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2"/>
          <p:cNvSpPr txBox="1"/>
          <p:nvPr/>
        </p:nvSpPr>
        <p:spPr>
          <a:xfrm>
            <a:off x="4740000" y="3778000"/>
            <a:ext cx="3980100" cy="12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5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USER PROFILE APPLIED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Preferred city:  </a:t>
            </a:r>
            <a:r>
              <a:rPr b="1" i="0" lang="en-GB" sz="950" u="none" cap="none" strike="noStrike">
                <a:solidFill>
                  <a:srgbClr val="2E7A2E"/>
                </a:solidFill>
                <a:latin typeface="Calibri"/>
                <a:ea typeface="Calibri"/>
                <a:cs typeface="Calibri"/>
                <a:sym typeface="Calibri"/>
              </a:rPr>
              <a:t>Zurich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Price range:  </a:t>
            </a:r>
            <a:r>
              <a:rPr b="1" i="0" lang="en-GB" sz="9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CHF 1910-2073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Feature affinity:  </a:t>
            </a:r>
            <a:r>
              <a:rPr b="1" i="0" lang="en-GB" sz="950" u="none" cap="none" strike="noStrike">
                <a:solidFill>
                  <a:srgbClr val="2E7A2E"/>
                </a:solidFill>
                <a:latin typeface="Calibri"/>
                <a:ea typeface="Calibri"/>
                <a:cs typeface="Calibri"/>
                <a:sym typeface="Calibri"/>
              </a:rPr>
              <a:t>elevator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Clicked:  </a:t>
            </a:r>
            <a:r>
              <a:rPr b="1" i="0" lang="en-GB" sz="9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listings 58963, 2671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Favorited:  </a:t>
            </a:r>
            <a:r>
              <a:rPr b="1" i="0" lang="en-GB" sz="950" u="none" cap="none" strike="noStrike">
                <a:solidFill>
                  <a:srgbClr val="2E7A2E"/>
                </a:solidFill>
                <a:latin typeface="Calibri"/>
                <a:ea typeface="Calibri"/>
                <a:cs typeface="Calibri"/>
                <a:sym typeface="Calibri"/>
              </a:rPr>
              <a:t>listing 2671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7A8EAA"/>
                </a:solidFill>
                <a:latin typeface="Calibri"/>
                <a:ea typeface="Calibri"/>
                <a:cs typeface="Calibri"/>
                <a:sym typeface="Calibri"/>
              </a:rPr>
              <a:t>Built from:  </a:t>
            </a:r>
            <a:r>
              <a:rPr b="1" i="0" lang="en-GB" sz="950" u="none" cap="none" strike="noStrike">
                <a:solidFill>
                  <a:srgbClr val="2E7A2E"/>
                </a:solidFill>
                <a:latin typeface="Calibri"/>
                <a:ea typeface="Calibri"/>
                <a:cs typeface="Calibri"/>
                <a:sym typeface="Calibri"/>
              </a:rPr>
              <a:t>0 explicit inputs  |  behavior only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"/>
          <p:cNvSpPr txBox="1"/>
          <p:nvPr>
            <p:ph type="title"/>
          </p:nvPr>
        </p:nvSpPr>
        <p:spPr>
          <a:xfrm>
            <a:off x="311700" y="250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Same query. Better ranking with personalization.</a:t>
            </a:r>
            <a:endParaRPr/>
          </a:p>
        </p:txBody>
      </p:sp>
      <p:sp>
        <p:nvSpPr>
          <p:cNvPr id="272" name="Google Shape;272;p33"/>
          <p:cNvSpPr/>
          <p:nvPr/>
        </p:nvSpPr>
        <p:spPr>
          <a:xfrm>
            <a:off x="1333341" y="1152475"/>
            <a:ext cx="64878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72"/>
              <a:buFont typeface="Inter"/>
              <a:buNone/>
            </a:pPr>
            <a:r>
              <a:rPr b="0" i="0" lang="en-GB" sz="87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quiet apartment in Zurich, must have parking, balcony would be nice</a:t>
            </a:r>
            <a:endParaRPr b="0" i="0" sz="872" u="none" cap="none" strike="noStrike"/>
          </a:p>
        </p:txBody>
      </p:sp>
      <p:sp>
        <p:nvSpPr>
          <p:cNvPr id="273" name="Google Shape;273;p33"/>
          <p:cNvSpPr/>
          <p:nvPr/>
        </p:nvSpPr>
        <p:spPr>
          <a:xfrm>
            <a:off x="1333341" y="1422571"/>
            <a:ext cx="6487800" cy="8700"/>
          </a:xfrm>
          <a:prstGeom prst="rect">
            <a:avLst/>
          </a:prstGeom>
          <a:solidFill>
            <a:srgbClr val="272525">
              <a:alpha val="50199"/>
            </a:srgbClr>
          </a:solidFill>
          <a:ln>
            <a:noFill/>
          </a:ln>
        </p:spPr>
        <p:txBody>
          <a:bodyPr anchorCtr="0" anchor="ctr" bIns="61300" lIns="61300" spcFirstLastPara="1" rIns="61300" wrap="square" tIns="6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3"/>
          <p:cNvSpPr/>
          <p:nvPr/>
        </p:nvSpPr>
        <p:spPr>
          <a:xfrm>
            <a:off x="1333341" y="1635423"/>
            <a:ext cx="3104700" cy="643800"/>
          </a:xfrm>
          <a:prstGeom prst="roundRect">
            <a:avLst>
              <a:gd fmla="val 742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61300" lIns="61300" spcFirstLastPara="1" rIns="61300" wrap="square" tIns="6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" name="Google Shape;27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111" y="1755501"/>
            <a:ext cx="177801" cy="14227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3"/>
          <p:cNvSpPr/>
          <p:nvPr/>
        </p:nvSpPr>
        <p:spPr>
          <a:xfrm>
            <a:off x="1738682" y="1742087"/>
            <a:ext cx="14226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6"/>
              <a:buFont typeface="Inter"/>
              <a:buNone/>
            </a:pPr>
            <a:r>
              <a:rPr b="1" i="0" lang="en-GB" sz="1106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COLD SEARCH</a:t>
            </a:r>
            <a:endParaRPr b="0" i="0" sz="1106" u="none" cap="none" strike="noStrike"/>
          </a:p>
        </p:txBody>
      </p:sp>
      <p:sp>
        <p:nvSpPr>
          <p:cNvPr id="277" name="Google Shape;277;p33"/>
          <p:cNvSpPr/>
          <p:nvPr/>
        </p:nvSpPr>
        <p:spPr>
          <a:xfrm>
            <a:off x="1738682" y="1998132"/>
            <a:ext cx="25860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2"/>
              <a:buFont typeface="Inter"/>
              <a:buNone/>
            </a:pPr>
            <a:r>
              <a:rPr b="0" i="0" lang="en-GB" sz="872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user context</a:t>
            </a:r>
            <a:endParaRPr b="0" i="0" sz="872" u="none" cap="none" strike="noStrike"/>
          </a:p>
        </p:txBody>
      </p:sp>
      <p:sp>
        <p:nvSpPr>
          <p:cNvPr id="278" name="Google Shape;278;p33"/>
          <p:cNvSpPr/>
          <p:nvPr/>
        </p:nvSpPr>
        <p:spPr>
          <a:xfrm>
            <a:off x="1333341" y="2423915"/>
            <a:ext cx="1503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50"/>
              <a:buFont typeface="Inter"/>
              <a:buNone/>
            </a:pPr>
            <a:r>
              <a:rPr b="1" i="0" lang="en-GB" sz="2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2.20</a:t>
            </a:r>
            <a:endParaRPr b="0" i="0" sz="2950" u="none" cap="none" strike="noStrike"/>
          </a:p>
        </p:txBody>
      </p:sp>
      <p:sp>
        <p:nvSpPr>
          <p:cNvPr id="279" name="Google Shape;279;p33"/>
          <p:cNvSpPr/>
          <p:nvPr/>
        </p:nvSpPr>
        <p:spPr>
          <a:xfrm>
            <a:off x="1373739" y="2915006"/>
            <a:ext cx="14226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6"/>
              <a:buFont typeface="Inter"/>
              <a:buNone/>
            </a:pPr>
            <a:r>
              <a:rPr b="1" i="0" lang="en-GB" sz="1106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Top score</a:t>
            </a:r>
            <a:endParaRPr b="0" i="0" sz="1106" u="none" cap="none" strike="noStrike"/>
          </a:p>
        </p:txBody>
      </p:sp>
      <p:sp>
        <p:nvSpPr>
          <p:cNvPr id="280" name="Google Shape;280;p33"/>
          <p:cNvSpPr/>
          <p:nvPr/>
        </p:nvSpPr>
        <p:spPr>
          <a:xfrm>
            <a:off x="1333341" y="3171050"/>
            <a:ext cx="15036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72"/>
              <a:buFont typeface="Inter"/>
              <a:buNone/>
            </a:pPr>
            <a:r>
              <a:rPr b="0" i="0" lang="en-GB" sz="87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#1 Studio Apartment · Zürich</a:t>
            </a:r>
            <a:endParaRPr b="0" i="0" sz="872" u="none" cap="none" strike="noStrike"/>
          </a:p>
        </p:txBody>
      </p:sp>
      <p:sp>
        <p:nvSpPr>
          <p:cNvPr id="281" name="Google Shape;281;p33"/>
          <p:cNvSpPr/>
          <p:nvPr/>
        </p:nvSpPr>
        <p:spPr>
          <a:xfrm>
            <a:off x="2934665" y="2423915"/>
            <a:ext cx="1503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50"/>
              <a:buFont typeface="Inter"/>
              <a:buNone/>
            </a:pPr>
            <a:r>
              <a:rPr b="1" i="0" lang="en-GB" sz="2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1.66</a:t>
            </a:r>
            <a:endParaRPr b="0" i="0" sz="2950" u="none" cap="none" strike="noStrike"/>
          </a:p>
        </p:txBody>
      </p:sp>
      <p:sp>
        <p:nvSpPr>
          <p:cNvPr id="282" name="Google Shape;282;p33"/>
          <p:cNvSpPr/>
          <p:nvPr/>
        </p:nvSpPr>
        <p:spPr>
          <a:xfrm>
            <a:off x="2975064" y="2915006"/>
            <a:ext cx="14226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6"/>
              <a:buFont typeface="Inter"/>
              <a:buNone/>
            </a:pPr>
            <a:r>
              <a:rPr b="1" i="0" lang="en-GB" sz="1106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Runner-up</a:t>
            </a:r>
            <a:endParaRPr b="0" i="0" sz="1106" u="none" cap="none" strike="noStrike"/>
          </a:p>
        </p:txBody>
      </p:sp>
      <p:sp>
        <p:nvSpPr>
          <p:cNvPr id="283" name="Google Shape;283;p33"/>
          <p:cNvSpPr/>
          <p:nvPr/>
        </p:nvSpPr>
        <p:spPr>
          <a:xfrm>
            <a:off x="2934665" y="3171050"/>
            <a:ext cx="15036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72"/>
              <a:buFont typeface="Inter"/>
              <a:buNone/>
            </a:pPr>
            <a:r>
              <a:rPr b="0" i="0" lang="en-GB" sz="87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#2 Neubauwohnung</a:t>
            </a:r>
            <a:endParaRPr b="0" i="0" sz="872" u="none" cap="none" strike="noStrike"/>
          </a:p>
        </p:txBody>
      </p:sp>
      <p:sp>
        <p:nvSpPr>
          <p:cNvPr id="284" name="Google Shape;284;p33"/>
          <p:cNvSpPr/>
          <p:nvPr/>
        </p:nvSpPr>
        <p:spPr>
          <a:xfrm>
            <a:off x="1333341" y="3566414"/>
            <a:ext cx="3104700" cy="667800"/>
          </a:xfrm>
          <a:prstGeom prst="roundRect">
            <a:avLst>
              <a:gd fmla="val 11016" name="adj"/>
            </a:avLst>
          </a:prstGeom>
          <a:solidFill>
            <a:srgbClr val="FFFFFF"/>
          </a:solidFill>
          <a:ln cap="flat" cmpd="sng" w="15300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300" lIns="61300" spcFirstLastPara="1" rIns="61300" wrap="square" tIns="6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3"/>
          <p:cNvSpPr/>
          <p:nvPr/>
        </p:nvSpPr>
        <p:spPr>
          <a:xfrm>
            <a:off x="1318012" y="3566414"/>
            <a:ext cx="61500" cy="667800"/>
          </a:xfrm>
          <a:prstGeom prst="roundRect">
            <a:avLst>
              <a:gd fmla="val 77962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61300" lIns="61300" spcFirstLastPara="1" rIns="61300" wrap="square" tIns="6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3"/>
          <p:cNvSpPr/>
          <p:nvPr/>
        </p:nvSpPr>
        <p:spPr>
          <a:xfrm>
            <a:off x="1508427" y="3695514"/>
            <a:ext cx="14226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6"/>
              <a:buFont typeface="Inter"/>
              <a:buNone/>
            </a:pPr>
            <a:r>
              <a:rPr b="1" i="0" lang="en-GB" sz="1106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Top result</a:t>
            </a:r>
            <a:endParaRPr b="0" i="0" sz="1106" u="none" cap="none" strike="noStrike"/>
          </a:p>
        </p:txBody>
      </p:sp>
      <p:sp>
        <p:nvSpPr>
          <p:cNvPr id="287" name="Google Shape;287;p33"/>
          <p:cNvSpPr/>
          <p:nvPr/>
        </p:nvSpPr>
        <p:spPr>
          <a:xfrm>
            <a:off x="1508427" y="3951558"/>
            <a:ext cx="28008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72"/>
              <a:buFont typeface="Inter"/>
              <a:buNone/>
            </a:pPr>
            <a:r>
              <a:rPr b="0" i="0" lang="en-GB" sz="87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quiet • balcony</a:t>
            </a:r>
            <a:endParaRPr b="0" i="0" sz="872" u="none" cap="none" strike="noStrike"/>
          </a:p>
        </p:txBody>
      </p:sp>
      <p:sp>
        <p:nvSpPr>
          <p:cNvPr id="288" name="Google Shape;288;p33"/>
          <p:cNvSpPr/>
          <p:nvPr/>
        </p:nvSpPr>
        <p:spPr>
          <a:xfrm>
            <a:off x="4721056" y="1635423"/>
            <a:ext cx="3104700" cy="643800"/>
          </a:xfrm>
          <a:prstGeom prst="roundRect">
            <a:avLst>
              <a:gd fmla="val 7427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61300" lIns="61300" spcFirstLastPara="1" rIns="61300" wrap="square" tIns="6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9" name="Google Shape;28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4826" y="1755501"/>
            <a:ext cx="177801" cy="14227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3"/>
          <p:cNvSpPr/>
          <p:nvPr/>
        </p:nvSpPr>
        <p:spPr>
          <a:xfrm>
            <a:off x="5126397" y="1742087"/>
            <a:ext cx="14226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6"/>
              <a:buFont typeface="Inter"/>
              <a:buNone/>
            </a:pPr>
            <a:r>
              <a:rPr b="1" i="0" lang="en-GB" sz="1106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WARM SEARCH</a:t>
            </a:r>
            <a:endParaRPr b="0" i="0" sz="1106" u="none" cap="none" strike="noStrike"/>
          </a:p>
        </p:txBody>
      </p:sp>
      <p:sp>
        <p:nvSpPr>
          <p:cNvPr id="291" name="Google Shape;291;p33"/>
          <p:cNvSpPr/>
          <p:nvPr/>
        </p:nvSpPr>
        <p:spPr>
          <a:xfrm>
            <a:off x="5126397" y="1998132"/>
            <a:ext cx="25860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2"/>
              <a:buFont typeface="Inter"/>
              <a:buNone/>
            </a:pPr>
            <a:r>
              <a:rPr b="0" i="0" lang="en-GB" sz="872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Profile-aware ranking</a:t>
            </a:r>
            <a:endParaRPr b="0" i="0" sz="872" u="none" cap="none" strike="noStrike"/>
          </a:p>
        </p:txBody>
      </p:sp>
      <p:sp>
        <p:nvSpPr>
          <p:cNvPr id="292" name="Google Shape;292;p33"/>
          <p:cNvSpPr/>
          <p:nvPr/>
        </p:nvSpPr>
        <p:spPr>
          <a:xfrm>
            <a:off x="4721056" y="2423915"/>
            <a:ext cx="1503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50"/>
              <a:buFont typeface="Inter"/>
              <a:buNone/>
            </a:pPr>
            <a:r>
              <a:rPr b="1" i="0" lang="en-GB" sz="2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2.35</a:t>
            </a:r>
            <a:endParaRPr b="0" i="0" sz="2950" u="none" cap="none" strike="noStrike"/>
          </a:p>
        </p:txBody>
      </p:sp>
      <p:sp>
        <p:nvSpPr>
          <p:cNvPr id="293" name="Google Shape;293;p33"/>
          <p:cNvSpPr/>
          <p:nvPr/>
        </p:nvSpPr>
        <p:spPr>
          <a:xfrm>
            <a:off x="4761454" y="2915006"/>
            <a:ext cx="14226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6"/>
              <a:buFont typeface="Inter"/>
              <a:buNone/>
            </a:pPr>
            <a:r>
              <a:rPr b="1" i="0" lang="en-GB" sz="1106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Top score</a:t>
            </a:r>
            <a:endParaRPr b="0" i="0" sz="1106" u="none" cap="none" strike="noStrike"/>
          </a:p>
        </p:txBody>
      </p:sp>
      <p:sp>
        <p:nvSpPr>
          <p:cNvPr id="294" name="Google Shape;294;p33"/>
          <p:cNvSpPr/>
          <p:nvPr/>
        </p:nvSpPr>
        <p:spPr>
          <a:xfrm>
            <a:off x="4721056" y="3171050"/>
            <a:ext cx="15036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72"/>
              <a:buFont typeface="Inter"/>
              <a:buNone/>
            </a:pPr>
            <a:r>
              <a:rPr b="0" i="0" lang="en-GB" sz="87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#1 Studio Apartment · Zürich</a:t>
            </a:r>
            <a:endParaRPr b="0" i="0" sz="872" u="none" cap="none" strike="noStrike"/>
          </a:p>
        </p:txBody>
      </p:sp>
      <p:sp>
        <p:nvSpPr>
          <p:cNvPr id="295" name="Google Shape;295;p33"/>
          <p:cNvSpPr/>
          <p:nvPr/>
        </p:nvSpPr>
        <p:spPr>
          <a:xfrm>
            <a:off x="6322381" y="2423915"/>
            <a:ext cx="1503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950"/>
              <a:buFont typeface="Inter"/>
              <a:buNone/>
            </a:pPr>
            <a:r>
              <a:rPr b="1" i="0" lang="en-GB" sz="29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1.78</a:t>
            </a:r>
            <a:endParaRPr b="0" i="0" sz="2950" u="none" cap="none" strike="noStrike"/>
          </a:p>
        </p:txBody>
      </p:sp>
      <p:sp>
        <p:nvSpPr>
          <p:cNvPr id="296" name="Google Shape;296;p33"/>
          <p:cNvSpPr/>
          <p:nvPr/>
        </p:nvSpPr>
        <p:spPr>
          <a:xfrm>
            <a:off x="6362779" y="2915006"/>
            <a:ext cx="14226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6"/>
              <a:buFont typeface="Inter"/>
              <a:buNone/>
            </a:pPr>
            <a:r>
              <a:rPr b="1" i="0" lang="en-GB" sz="1106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Runner-up</a:t>
            </a:r>
            <a:endParaRPr b="0" i="0" sz="1106" u="none" cap="none" strike="noStrike"/>
          </a:p>
        </p:txBody>
      </p:sp>
      <p:sp>
        <p:nvSpPr>
          <p:cNvPr id="297" name="Google Shape;297;p33"/>
          <p:cNvSpPr/>
          <p:nvPr/>
        </p:nvSpPr>
        <p:spPr>
          <a:xfrm>
            <a:off x="6322381" y="3171050"/>
            <a:ext cx="15036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72"/>
              <a:buFont typeface="Inter"/>
              <a:buNone/>
            </a:pPr>
            <a:r>
              <a:rPr b="0" i="0" lang="en-GB" sz="87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#2 Neubauwohnung</a:t>
            </a:r>
            <a:endParaRPr b="0" i="0" sz="872" u="none" cap="none" strike="noStrike"/>
          </a:p>
        </p:txBody>
      </p:sp>
      <p:sp>
        <p:nvSpPr>
          <p:cNvPr id="298" name="Google Shape;298;p33"/>
          <p:cNvSpPr/>
          <p:nvPr/>
        </p:nvSpPr>
        <p:spPr>
          <a:xfrm>
            <a:off x="4721056" y="3566414"/>
            <a:ext cx="3104700" cy="667800"/>
          </a:xfrm>
          <a:prstGeom prst="roundRect">
            <a:avLst>
              <a:gd fmla="val 11016" name="adj"/>
            </a:avLst>
          </a:prstGeom>
          <a:solidFill>
            <a:srgbClr val="FFFFFF"/>
          </a:solidFill>
          <a:ln cap="flat" cmpd="sng" w="15300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300" lIns="61300" spcFirstLastPara="1" rIns="61300" wrap="square" tIns="6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3"/>
          <p:cNvSpPr/>
          <p:nvPr/>
        </p:nvSpPr>
        <p:spPr>
          <a:xfrm>
            <a:off x="4705727" y="3566414"/>
            <a:ext cx="61500" cy="667800"/>
          </a:xfrm>
          <a:prstGeom prst="roundRect">
            <a:avLst>
              <a:gd fmla="val 77962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61300" lIns="61300" spcFirstLastPara="1" rIns="61300" wrap="square" tIns="6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3"/>
          <p:cNvSpPr/>
          <p:nvPr/>
        </p:nvSpPr>
        <p:spPr>
          <a:xfrm>
            <a:off x="4896143" y="3695514"/>
            <a:ext cx="14226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6"/>
              <a:buFont typeface="Inter"/>
              <a:buNone/>
            </a:pPr>
            <a:r>
              <a:rPr b="1" i="0" lang="en-GB" sz="1106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Top result</a:t>
            </a:r>
            <a:endParaRPr b="0" i="0" sz="1106" u="none" cap="none" strike="noStrike"/>
          </a:p>
        </p:txBody>
      </p:sp>
      <p:sp>
        <p:nvSpPr>
          <p:cNvPr id="301" name="Google Shape;301;p33"/>
          <p:cNvSpPr/>
          <p:nvPr/>
        </p:nvSpPr>
        <p:spPr>
          <a:xfrm>
            <a:off x="4896143" y="3951558"/>
            <a:ext cx="28008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72"/>
              <a:buFont typeface="Inter"/>
              <a:buNone/>
            </a:pPr>
            <a:r>
              <a:rPr b="0" i="0" lang="en-GB" sz="87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quiet • balcony • parking fit</a:t>
            </a:r>
            <a:endParaRPr b="0" i="0" sz="872" u="none" cap="none" strike="noStrike"/>
          </a:p>
        </p:txBody>
      </p:sp>
      <p:sp>
        <p:nvSpPr>
          <p:cNvPr id="302" name="Google Shape;302;p33"/>
          <p:cNvSpPr/>
          <p:nvPr/>
        </p:nvSpPr>
        <p:spPr>
          <a:xfrm>
            <a:off x="1333341" y="4410315"/>
            <a:ext cx="6487800" cy="545100"/>
          </a:xfrm>
          <a:prstGeom prst="roundRect">
            <a:avLst>
              <a:gd fmla="val 8769" name="adj"/>
            </a:avLst>
          </a:prstGeom>
          <a:solidFill>
            <a:srgbClr val="DADBF1"/>
          </a:solidFill>
          <a:ln cap="flat" cmpd="sng" w="6400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300" lIns="61300" spcFirstLastPara="1" rIns="61300" wrap="square" tIns="6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3"/>
          <p:cNvSpPr/>
          <p:nvPr/>
        </p:nvSpPr>
        <p:spPr>
          <a:xfrm>
            <a:off x="1338451" y="4415424"/>
            <a:ext cx="2159100" cy="534900"/>
          </a:xfrm>
          <a:prstGeom prst="roundRect">
            <a:avLst>
              <a:gd fmla="val 8937" name="adj"/>
            </a:avLst>
          </a:prstGeom>
          <a:solidFill>
            <a:srgbClr val="DADBF1"/>
          </a:solidFill>
          <a:ln>
            <a:noFill/>
          </a:ln>
        </p:spPr>
        <p:txBody>
          <a:bodyPr anchorCtr="0" anchor="ctr" bIns="61300" lIns="61300" spcFirstLastPara="1" rIns="61300" wrap="square" tIns="6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3"/>
          <p:cNvSpPr/>
          <p:nvPr/>
        </p:nvSpPr>
        <p:spPr>
          <a:xfrm>
            <a:off x="1452221" y="4529195"/>
            <a:ext cx="19317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72"/>
              <a:buFont typeface="Inter"/>
              <a:buNone/>
            </a:pPr>
            <a:r>
              <a:rPr b="1" i="0" lang="en-GB" sz="87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Zürich preference</a:t>
            </a:r>
            <a:r>
              <a:rPr b="0" i="0" lang="en-GB" sz="87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· Budget CHF 1910–2073</a:t>
            </a:r>
            <a:endParaRPr b="0" i="0" sz="872" u="none" cap="none" strike="noStrike"/>
          </a:p>
        </p:txBody>
      </p:sp>
      <p:sp>
        <p:nvSpPr>
          <p:cNvPr id="305" name="Google Shape;305;p33"/>
          <p:cNvSpPr/>
          <p:nvPr/>
        </p:nvSpPr>
        <p:spPr>
          <a:xfrm>
            <a:off x="3497528" y="4415424"/>
            <a:ext cx="2159100" cy="534900"/>
          </a:xfrm>
          <a:prstGeom prst="rect">
            <a:avLst/>
          </a:prstGeom>
          <a:solidFill>
            <a:srgbClr val="DADBF1"/>
          </a:solidFill>
          <a:ln>
            <a:noFill/>
          </a:ln>
        </p:spPr>
        <p:txBody>
          <a:bodyPr anchorCtr="0" anchor="ctr" bIns="61300" lIns="61300" spcFirstLastPara="1" rIns="61300" wrap="square" tIns="6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3"/>
          <p:cNvSpPr/>
          <p:nvPr/>
        </p:nvSpPr>
        <p:spPr>
          <a:xfrm>
            <a:off x="3497528" y="4415424"/>
            <a:ext cx="15300" cy="534900"/>
          </a:xfrm>
          <a:prstGeom prst="roundRect">
            <a:avLst>
              <a:gd fmla="val 311850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61300" lIns="61300" spcFirstLastPara="1" rIns="61300" wrap="square" tIns="6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3"/>
          <p:cNvSpPr/>
          <p:nvPr/>
        </p:nvSpPr>
        <p:spPr>
          <a:xfrm>
            <a:off x="3611298" y="4529195"/>
            <a:ext cx="19317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72"/>
              <a:buFont typeface="Inter"/>
              <a:buNone/>
            </a:pPr>
            <a:r>
              <a:rPr b="1" i="0" lang="en-GB" sz="87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Likes elevator</a:t>
            </a:r>
            <a:r>
              <a:rPr b="0" i="0" lang="en-GB" sz="87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· Click/favorite history</a:t>
            </a:r>
            <a:endParaRPr b="0" i="0" sz="872" u="none" cap="none" strike="noStrike"/>
          </a:p>
        </p:txBody>
      </p:sp>
      <p:sp>
        <p:nvSpPr>
          <p:cNvPr id="308" name="Google Shape;308;p33"/>
          <p:cNvSpPr/>
          <p:nvPr/>
        </p:nvSpPr>
        <p:spPr>
          <a:xfrm>
            <a:off x="5656686" y="4415424"/>
            <a:ext cx="2159100" cy="534900"/>
          </a:xfrm>
          <a:prstGeom prst="rect">
            <a:avLst/>
          </a:prstGeom>
          <a:solidFill>
            <a:srgbClr val="DADBF1"/>
          </a:solidFill>
          <a:ln>
            <a:noFill/>
          </a:ln>
        </p:spPr>
        <p:txBody>
          <a:bodyPr anchorCtr="0" anchor="ctr" bIns="61300" lIns="61300" spcFirstLastPara="1" rIns="61300" wrap="square" tIns="6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3"/>
          <p:cNvSpPr/>
          <p:nvPr/>
        </p:nvSpPr>
        <p:spPr>
          <a:xfrm>
            <a:off x="5656686" y="4415424"/>
            <a:ext cx="15300" cy="534900"/>
          </a:xfrm>
          <a:prstGeom prst="roundRect">
            <a:avLst>
              <a:gd fmla="val 311850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61300" lIns="61300" spcFirstLastPara="1" rIns="61300" wrap="square" tIns="6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3"/>
          <p:cNvSpPr/>
          <p:nvPr/>
        </p:nvSpPr>
        <p:spPr>
          <a:xfrm>
            <a:off x="5770456" y="4529195"/>
            <a:ext cx="19317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72"/>
              <a:buFont typeface="Inter"/>
              <a:buNone/>
            </a:pPr>
            <a:r>
              <a:rPr b="1" i="0" lang="en-GB" sz="87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Insight</a:t>
            </a:r>
            <a:r>
              <a:rPr b="0" i="0" lang="en-GB" sz="87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· Personalization resolves close matches using learned intent.</a:t>
            </a:r>
            <a:endParaRPr b="0" i="0" sz="872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/>
          <p:cNvSpPr txBox="1"/>
          <p:nvPr>
            <p:ph type="title"/>
          </p:nvPr>
        </p:nvSpPr>
        <p:spPr>
          <a:xfrm>
            <a:off x="3172975" y="1782625"/>
            <a:ext cx="3083400" cy="8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900"/>
              <a:t>Thanks!</a:t>
            </a:r>
            <a:endParaRPr sz="3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