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Nunito"/>
      <p:regular r:id="rId17"/>
      <p:bold r:id="rId18"/>
      <p:italic r:id="rId19"/>
      <p:boldItalic r:id="rId20"/>
    </p:embeddedFont>
    <p:embeddedFont>
      <p:font typeface="Inter"/>
      <p:bold r:id="rId21"/>
      <p:boldItalic r:id="rId22"/>
    </p:embeddedFont>
    <p:embeddedFont>
      <p:font typeface="Nunito Medium"/>
      <p:regular r:id="rId23"/>
      <p:bold r:id="rId24"/>
      <p:italic r:id="rId25"/>
      <p:boldItalic r:id="rId2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Nunito-boldItalic.fntdata"/><Relationship Id="rId22" Type="http://schemas.openxmlformats.org/officeDocument/2006/relationships/font" Target="fonts/Inter-boldItalic.fntdata"/><Relationship Id="rId21" Type="http://schemas.openxmlformats.org/officeDocument/2006/relationships/font" Target="fonts/Inter-bold.fntdata"/><Relationship Id="rId24" Type="http://schemas.openxmlformats.org/officeDocument/2006/relationships/font" Target="fonts/NunitoMedium-bold.fntdata"/><Relationship Id="rId23" Type="http://schemas.openxmlformats.org/officeDocument/2006/relationships/font" Target="fonts/NunitoMedium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NunitoMedium-boldItalic.fntdata"/><Relationship Id="rId25" Type="http://schemas.openxmlformats.org/officeDocument/2006/relationships/font" Target="fonts/NunitoMedium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Nunito-regular.fntdata"/><Relationship Id="rId16" Type="http://schemas.openxmlformats.org/officeDocument/2006/relationships/slide" Target="slides/slide10.xml"/><Relationship Id="rId19" Type="http://schemas.openxmlformats.org/officeDocument/2006/relationships/font" Target="fonts/Nunito-italic.fntdata"/><Relationship Id="rId18" Type="http://schemas.openxmlformats.org/officeDocument/2006/relationships/font" Target="fonts/Nunit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976c68fa5e_3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976c68fa5e_3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976c68fa5e_6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976c68fa5e_6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c8f85537db_0_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c8f85537db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add a dashboard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g3976c68fa5e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" name="Google Shape;163;g3976c68fa5e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976c68fa5e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976c68fa5e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add a dashboard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3976c68fa5e_6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3976c68fa5e_6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g3976c68fa5e_17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9" name="Google Shape;229;g3976c68fa5e_17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/>
              <a:t>add a dashboard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g3976c68fa5e_6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0" name="Google Shape;270;g3976c68fa5e_6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g3976c68fa5e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4" name="Google Shape;314;g3976c68fa5e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6" name="Google Shape;56;p1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7" name="Google Shape;57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61" name="Google Shape;61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64" name="Google Shape;64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8" name="Google Shape;68;p17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75" name="Google Shape;75;p19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76" name="Google Shape;76;p1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2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21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83" name="Google Shape;83;p21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84" name="Google Shape;84;p21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5" name="Google Shape;85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2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88" name="Google Shape;88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3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91" name="Google Shape;91;p23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venir"/>
              <a:buNone/>
              <a:defRPr sz="28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venir"/>
              <a:buChar char="●"/>
              <a:defRPr sz="18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○"/>
              <a:defRPr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■"/>
              <a:defRPr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●"/>
              <a:defRPr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○"/>
              <a:defRPr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■"/>
              <a:defRPr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●"/>
              <a:defRPr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○"/>
              <a:defRPr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venir"/>
              <a:buChar char="■"/>
              <a:defRPr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9.png"/><Relationship Id="rId6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jpg"/><Relationship Id="rId4" Type="http://schemas.openxmlformats.org/officeDocument/2006/relationships/image" Target="../media/image7.jpg"/><Relationship Id="rId5" Type="http://schemas.openxmlformats.org/officeDocument/2006/relationships/image" Target="../media/image5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5"/>
          <p:cNvSpPr txBox="1"/>
          <p:nvPr>
            <p:ph type="ctrTitle"/>
          </p:nvPr>
        </p:nvSpPr>
        <p:spPr>
          <a:xfrm>
            <a:off x="311708" y="994411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NestFinder: Search That Understands What You Actually Mean</a:t>
            </a:r>
            <a:endParaRPr/>
          </a:p>
        </p:txBody>
      </p:sp>
      <p:sp>
        <p:nvSpPr>
          <p:cNvPr id="100" name="Google Shape;100;p25"/>
          <p:cNvSpPr txBox="1"/>
          <p:nvPr>
            <p:ph idx="1" type="subTitle"/>
          </p:nvPr>
        </p:nvSpPr>
        <p:spPr>
          <a:xfrm>
            <a:off x="371100" y="3725411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Akmal Ashirmatov </a:t>
            </a:r>
            <a:r>
              <a:rPr lang="en-GB"/>
              <a:t>, </a:t>
            </a:r>
            <a:r>
              <a:rPr lang="en-GB"/>
              <a:t>Diego Zafferani</a:t>
            </a:r>
            <a:r>
              <a:rPr lang="en-GB"/>
              <a:t>, Jing Yan, Darya Zare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6"/>
          <p:cNvSpPr txBox="1"/>
          <p:nvPr/>
        </p:nvSpPr>
        <p:spPr>
          <a:xfrm>
            <a:off x="2219275" y="2245400"/>
            <a:ext cx="572700" cy="3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06" name="Google Shape;106;p26"/>
          <p:cNvSpPr txBox="1"/>
          <p:nvPr/>
        </p:nvSpPr>
        <p:spPr>
          <a:xfrm>
            <a:off x="2480850" y="2325450"/>
            <a:ext cx="813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  <a:latin typeface="Nunito Medium"/>
                <a:ea typeface="Nunito Medium"/>
                <a:cs typeface="Nunito Medium"/>
                <a:sym typeface="Nunito Medium"/>
              </a:rPr>
              <a:t>Hard constraints</a:t>
            </a:r>
            <a:endParaRPr sz="900">
              <a:solidFill>
                <a:schemeClr val="dk1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07" name="Google Shape;107;p26"/>
          <p:cNvSpPr txBox="1"/>
          <p:nvPr/>
        </p:nvSpPr>
        <p:spPr>
          <a:xfrm>
            <a:off x="2877475" y="182600"/>
            <a:ext cx="13368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  <a:latin typeface="Nunito Medium"/>
                <a:ea typeface="Nunito Medium"/>
                <a:cs typeface="Nunito Medium"/>
                <a:sym typeface="Nunito Medium"/>
              </a:rPr>
              <a:t>Databases</a:t>
            </a:r>
            <a:endParaRPr sz="1800">
              <a:solidFill>
                <a:schemeClr val="dk2"/>
              </a:solidFill>
              <a:latin typeface="Nunito Medium"/>
              <a:ea typeface="Nunito Medium"/>
              <a:cs typeface="Nunito Medium"/>
              <a:sym typeface="Nunito Medium"/>
            </a:endParaRPr>
          </a:p>
        </p:txBody>
      </p:sp>
      <p:sp>
        <p:nvSpPr>
          <p:cNvPr id="108" name="Google Shape;108;p26"/>
          <p:cNvSpPr txBox="1"/>
          <p:nvPr/>
        </p:nvSpPr>
        <p:spPr>
          <a:xfrm rot="5400000">
            <a:off x="6555600" y="2775600"/>
            <a:ext cx="1167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  <a:latin typeface="Nunito Medium"/>
                <a:ea typeface="Nunito Medium"/>
                <a:cs typeface="Nunito Medium"/>
                <a:sym typeface="Nunito Medium"/>
              </a:rPr>
              <a:t>Personalization in action</a:t>
            </a:r>
            <a:endParaRPr sz="1000">
              <a:solidFill>
                <a:schemeClr val="dk1"/>
              </a:solidFill>
              <a:latin typeface="Nunito Medium"/>
              <a:ea typeface="Nunito Medium"/>
              <a:cs typeface="Nunito Medium"/>
              <a:sym typeface="Nunito Medium"/>
            </a:endParaRPr>
          </a:p>
        </p:txBody>
      </p:sp>
      <p:sp>
        <p:nvSpPr>
          <p:cNvPr id="109" name="Google Shape;109;p26"/>
          <p:cNvSpPr txBox="1"/>
          <p:nvPr/>
        </p:nvSpPr>
        <p:spPr>
          <a:xfrm rot="5400000">
            <a:off x="8067000" y="2641313"/>
            <a:ext cx="11733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>
                <a:solidFill>
                  <a:schemeClr val="dk1"/>
                </a:solidFill>
                <a:latin typeface="Nunito Medium"/>
                <a:ea typeface="Nunito Medium"/>
                <a:cs typeface="Nunito Medium"/>
                <a:sym typeface="Nunito Medium"/>
              </a:rPr>
              <a:t>User Interactions</a:t>
            </a:r>
            <a:endParaRPr sz="1000">
              <a:solidFill>
                <a:schemeClr val="dk1"/>
              </a:solidFill>
              <a:latin typeface="Nunito Medium"/>
              <a:ea typeface="Nunito Medium"/>
              <a:cs typeface="Nunito Medium"/>
              <a:sym typeface="Nunito Medium"/>
            </a:endParaRPr>
          </a:p>
        </p:txBody>
      </p:sp>
      <p:pic>
        <p:nvPicPr>
          <p:cNvPr id="110" name="Google Shape;110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852" y="632196"/>
            <a:ext cx="9144003" cy="40808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7"/>
          <p:cNvSpPr txBox="1"/>
          <p:nvPr>
            <p:ph type="title"/>
          </p:nvPr>
        </p:nvSpPr>
        <p:spPr>
          <a:xfrm>
            <a:off x="311700" y="195189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Data Enrichment</a:t>
            </a:r>
            <a:endParaRPr/>
          </a:p>
        </p:txBody>
      </p:sp>
      <p:pic>
        <p:nvPicPr>
          <p:cNvPr id="116" name="Google Shape;116;p27"/>
          <p:cNvPicPr preferRelativeResize="0"/>
          <p:nvPr/>
        </p:nvPicPr>
        <p:blipFill rotWithShape="1">
          <a:blip r:embed="rId3">
            <a:alphaModFix/>
          </a:blip>
          <a:srcRect b="23949" l="24470" r="24455" t="24259"/>
          <a:stretch/>
        </p:blipFill>
        <p:spPr>
          <a:xfrm>
            <a:off x="3584950" y="199925"/>
            <a:ext cx="591654" cy="599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84975" y="199913"/>
            <a:ext cx="599974" cy="599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27"/>
          <p:cNvPicPr preferRelativeResize="0"/>
          <p:nvPr/>
        </p:nvPicPr>
        <p:blipFill rotWithShape="1">
          <a:blip r:embed="rId5">
            <a:alphaModFix/>
          </a:blip>
          <a:srcRect b="17863" l="15821" r="13583" t="18750"/>
          <a:stretch/>
        </p:blipFill>
        <p:spPr>
          <a:xfrm>
            <a:off x="4176600" y="219925"/>
            <a:ext cx="915462" cy="547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092050" y="219925"/>
            <a:ext cx="504126" cy="504126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7"/>
          <p:cNvSpPr/>
          <p:nvPr/>
        </p:nvSpPr>
        <p:spPr>
          <a:xfrm>
            <a:off x="510640" y="1168048"/>
            <a:ext cx="4012800" cy="1020300"/>
          </a:xfrm>
          <a:prstGeom prst="roundRect">
            <a:avLst>
              <a:gd fmla="val 7805" name="adj"/>
            </a:avLst>
          </a:prstGeom>
          <a:solidFill>
            <a:srgbClr val="FFFFFF"/>
          </a:solidFill>
          <a:ln cap="flat" cmpd="sng" w="165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27"/>
          <p:cNvSpPr/>
          <p:nvPr/>
        </p:nvSpPr>
        <p:spPr>
          <a:xfrm>
            <a:off x="494048" y="1168048"/>
            <a:ext cx="66300" cy="1020300"/>
          </a:xfrm>
          <a:prstGeom prst="roundRect">
            <a:avLst>
              <a:gd fmla="val 90366" name="adj"/>
            </a:avLst>
          </a:prstGeom>
          <a:solidFill>
            <a:srgbClr val="4950BC"/>
          </a:solidFill>
          <a:ln>
            <a:noFill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27"/>
          <p:cNvSpPr/>
          <p:nvPr/>
        </p:nvSpPr>
        <p:spPr>
          <a:xfrm>
            <a:off x="719769" y="1327402"/>
            <a:ext cx="3296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79"/>
              <a:buFont typeface="Inter"/>
              <a:buNone/>
            </a:pPr>
            <a:r>
              <a:rPr b="1" i="0" lang="en-GB" sz="137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5 sources, 40+ features, zero labeling</a:t>
            </a:r>
            <a:endParaRPr b="0" i="0" sz="1379" u="none" cap="none" strike="noStrike"/>
          </a:p>
        </p:txBody>
      </p:sp>
      <p:sp>
        <p:nvSpPr>
          <p:cNvPr id="123" name="Google Shape;123;p27"/>
          <p:cNvSpPr/>
          <p:nvPr/>
        </p:nvSpPr>
        <p:spPr>
          <a:xfrm>
            <a:off x="4637145" y="1168048"/>
            <a:ext cx="4012800" cy="1020300"/>
          </a:xfrm>
          <a:prstGeom prst="roundRect">
            <a:avLst>
              <a:gd fmla="val 7805" name="adj"/>
            </a:avLst>
          </a:prstGeom>
          <a:solidFill>
            <a:srgbClr val="FFFFFF"/>
          </a:solidFill>
          <a:ln cap="flat" cmpd="sng" w="165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27"/>
          <p:cNvSpPr/>
          <p:nvPr/>
        </p:nvSpPr>
        <p:spPr>
          <a:xfrm>
            <a:off x="4620552" y="1168048"/>
            <a:ext cx="66300" cy="1020300"/>
          </a:xfrm>
          <a:prstGeom prst="roundRect">
            <a:avLst>
              <a:gd fmla="val 90366" name="adj"/>
            </a:avLst>
          </a:prstGeom>
          <a:solidFill>
            <a:srgbClr val="4950BC"/>
          </a:solidFill>
          <a:ln>
            <a:noFill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7"/>
          <p:cNvSpPr/>
          <p:nvPr/>
        </p:nvSpPr>
        <p:spPr>
          <a:xfrm>
            <a:off x="4846274" y="1327402"/>
            <a:ext cx="178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79"/>
              <a:buFont typeface="Inter"/>
              <a:buNone/>
            </a:pPr>
            <a:r>
              <a:rPr b="1" i="0" lang="en-GB" sz="137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Where?</a:t>
            </a:r>
            <a:endParaRPr b="0" i="0" sz="1379" u="none" cap="none" strike="noStrike"/>
          </a:p>
        </p:txBody>
      </p:sp>
      <p:sp>
        <p:nvSpPr>
          <p:cNvPr id="126" name="Google Shape;126;p27"/>
          <p:cNvSpPr/>
          <p:nvPr/>
        </p:nvSpPr>
        <p:spPr>
          <a:xfrm>
            <a:off x="4846274" y="1618802"/>
            <a:ext cx="3644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48882" lvl="0" marL="248882" marR="0" rtl="0" algn="l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89"/>
              <a:buFont typeface="Inter"/>
              <a:buChar char="•"/>
            </a:pPr>
            <a:r>
              <a:rPr b="0" i="0" lang="en-GB" sz="108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Municipality, district, canton, population density (swissBOUNDARIES3D)</a:t>
            </a:r>
            <a:endParaRPr b="0" i="0" sz="1089" u="none" cap="none" strike="noStrike"/>
          </a:p>
        </p:txBody>
      </p:sp>
      <p:sp>
        <p:nvSpPr>
          <p:cNvPr id="127" name="Google Shape;127;p27"/>
          <p:cNvSpPr/>
          <p:nvPr/>
        </p:nvSpPr>
        <p:spPr>
          <a:xfrm>
            <a:off x="510640" y="2302192"/>
            <a:ext cx="4012800" cy="1020300"/>
          </a:xfrm>
          <a:prstGeom prst="roundRect">
            <a:avLst>
              <a:gd fmla="val 7805" name="adj"/>
            </a:avLst>
          </a:prstGeom>
          <a:solidFill>
            <a:srgbClr val="FFFFFF"/>
          </a:solidFill>
          <a:ln cap="flat" cmpd="sng" w="165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27"/>
          <p:cNvSpPr/>
          <p:nvPr/>
        </p:nvSpPr>
        <p:spPr>
          <a:xfrm>
            <a:off x="494048" y="2302192"/>
            <a:ext cx="66300" cy="1020300"/>
          </a:xfrm>
          <a:prstGeom prst="roundRect">
            <a:avLst>
              <a:gd fmla="val 90366" name="adj"/>
            </a:avLst>
          </a:prstGeom>
          <a:solidFill>
            <a:srgbClr val="4950BC"/>
          </a:solidFill>
          <a:ln>
            <a:noFill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27"/>
          <p:cNvSpPr/>
          <p:nvPr/>
        </p:nvSpPr>
        <p:spPr>
          <a:xfrm>
            <a:off x="719769" y="2461545"/>
            <a:ext cx="178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79"/>
              <a:buFont typeface="Inter"/>
              <a:buNone/>
            </a:pPr>
            <a:r>
              <a:rPr b="1" i="0" lang="en-GB" sz="137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How connected?</a:t>
            </a:r>
            <a:endParaRPr b="0" i="0" sz="1379" u="none" cap="none" strike="noStrike"/>
          </a:p>
        </p:txBody>
      </p:sp>
      <p:sp>
        <p:nvSpPr>
          <p:cNvPr id="130" name="Google Shape;130;p27"/>
          <p:cNvSpPr/>
          <p:nvPr/>
        </p:nvSpPr>
        <p:spPr>
          <a:xfrm>
            <a:off x="719769" y="2752946"/>
            <a:ext cx="3644400" cy="4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48882" lvl="0" marL="248882" marR="0" rtl="0" algn="l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89"/>
              <a:buFont typeface="Inter"/>
              <a:buChar char="•"/>
            </a:pPr>
            <a:r>
              <a:rPr b="0" i="0" lang="en-GB" sz="108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Nearest stop, train station &amp; Hauptbahnhof (SBB API)</a:t>
            </a:r>
            <a:endParaRPr b="0" i="0" sz="1089" u="none" cap="none" strike="noStrike"/>
          </a:p>
        </p:txBody>
      </p:sp>
      <p:sp>
        <p:nvSpPr>
          <p:cNvPr id="131" name="Google Shape;131;p27"/>
          <p:cNvSpPr/>
          <p:nvPr/>
        </p:nvSpPr>
        <p:spPr>
          <a:xfrm>
            <a:off x="4637145" y="2302192"/>
            <a:ext cx="4012800" cy="1020300"/>
          </a:xfrm>
          <a:prstGeom prst="roundRect">
            <a:avLst>
              <a:gd fmla="val 7805" name="adj"/>
            </a:avLst>
          </a:prstGeom>
          <a:solidFill>
            <a:srgbClr val="FFFFFF"/>
          </a:solidFill>
          <a:ln cap="flat" cmpd="sng" w="165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27"/>
          <p:cNvSpPr/>
          <p:nvPr/>
        </p:nvSpPr>
        <p:spPr>
          <a:xfrm>
            <a:off x="4620552" y="2302192"/>
            <a:ext cx="66300" cy="1020300"/>
          </a:xfrm>
          <a:prstGeom prst="roundRect">
            <a:avLst>
              <a:gd fmla="val 90366" name="adj"/>
            </a:avLst>
          </a:prstGeom>
          <a:solidFill>
            <a:srgbClr val="4950BC"/>
          </a:solidFill>
          <a:ln>
            <a:noFill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27"/>
          <p:cNvSpPr/>
          <p:nvPr/>
        </p:nvSpPr>
        <p:spPr>
          <a:xfrm>
            <a:off x="4846274" y="2461545"/>
            <a:ext cx="178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79"/>
              <a:buFont typeface="Inter"/>
              <a:buNone/>
            </a:pPr>
            <a:r>
              <a:rPr b="1" i="0" lang="en-GB" sz="137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What's nearby?</a:t>
            </a:r>
            <a:endParaRPr b="0" i="0" sz="1379" u="none" cap="none" strike="noStrike"/>
          </a:p>
        </p:txBody>
      </p:sp>
      <p:sp>
        <p:nvSpPr>
          <p:cNvPr id="134" name="Google Shape;134;p27"/>
          <p:cNvSpPr/>
          <p:nvPr/>
        </p:nvSpPr>
        <p:spPr>
          <a:xfrm>
            <a:off x="4846274" y="2752946"/>
            <a:ext cx="36444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48882" lvl="0" marL="248882" marR="0" rtl="0" algn="l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89"/>
              <a:buFont typeface="Inter"/>
              <a:buChar char="•"/>
            </a:pPr>
            <a:r>
              <a:rPr b="0" i="0" lang="en-GB" sz="108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12 POI types (OpenStreetMap)</a:t>
            </a:r>
            <a:endParaRPr b="0" i="0" sz="1089" u="none" cap="none" strike="noStrike"/>
          </a:p>
        </p:txBody>
      </p:sp>
      <p:sp>
        <p:nvSpPr>
          <p:cNvPr id="135" name="Google Shape;135;p27"/>
          <p:cNvSpPr/>
          <p:nvPr/>
        </p:nvSpPr>
        <p:spPr>
          <a:xfrm>
            <a:off x="510640" y="3436335"/>
            <a:ext cx="4012800" cy="815100"/>
          </a:xfrm>
          <a:prstGeom prst="roundRect">
            <a:avLst>
              <a:gd fmla="val 9769" name="adj"/>
            </a:avLst>
          </a:prstGeom>
          <a:solidFill>
            <a:srgbClr val="FFFFFF"/>
          </a:solidFill>
          <a:ln cap="flat" cmpd="sng" w="165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27"/>
          <p:cNvSpPr/>
          <p:nvPr/>
        </p:nvSpPr>
        <p:spPr>
          <a:xfrm>
            <a:off x="494048" y="3436335"/>
            <a:ext cx="66300" cy="815100"/>
          </a:xfrm>
          <a:prstGeom prst="roundRect">
            <a:avLst>
              <a:gd fmla="val 90366" name="adj"/>
            </a:avLst>
          </a:prstGeom>
          <a:solidFill>
            <a:srgbClr val="4950BC"/>
          </a:solidFill>
          <a:ln>
            <a:noFill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7"/>
          <p:cNvSpPr/>
          <p:nvPr/>
        </p:nvSpPr>
        <p:spPr>
          <a:xfrm>
            <a:off x="719769" y="3595689"/>
            <a:ext cx="178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79"/>
              <a:buFont typeface="Inter"/>
              <a:buNone/>
            </a:pPr>
            <a:r>
              <a:rPr b="1" i="0" lang="en-GB" sz="137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Fair price?</a:t>
            </a:r>
            <a:endParaRPr b="0" i="0" sz="1379" u="none" cap="none" strike="noStrike"/>
          </a:p>
        </p:txBody>
      </p:sp>
      <p:sp>
        <p:nvSpPr>
          <p:cNvPr id="138" name="Google Shape;138;p27"/>
          <p:cNvSpPr/>
          <p:nvPr/>
        </p:nvSpPr>
        <p:spPr>
          <a:xfrm>
            <a:off x="719769" y="3887089"/>
            <a:ext cx="36444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48882" lvl="0" marL="248882" marR="0" rtl="0" algn="l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89"/>
              <a:buFont typeface="Inter"/>
              <a:buChar char="•"/>
            </a:pPr>
            <a:r>
              <a:rPr b="0" i="0" lang="en-GB" sz="108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CHF/m2 vs. municipality, district &amp; canton avg</a:t>
            </a:r>
            <a:endParaRPr b="0" i="0" sz="1089" u="none" cap="none" strike="noStrike"/>
          </a:p>
        </p:txBody>
      </p:sp>
      <p:sp>
        <p:nvSpPr>
          <p:cNvPr id="139" name="Google Shape;139;p27"/>
          <p:cNvSpPr/>
          <p:nvPr/>
        </p:nvSpPr>
        <p:spPr>
          <a:xfrm>
            <a:off x="4637145" y="3436335"/>
            <a:ext cx="4012800" cy="815100"/>
          </a:xfrm>
          <a:prstGeom prst="roundRect">
            <a:avLst>
              <a:gd fmla="val 9769" name="adj"/>
            </a:avLst>
          </a:prstGeom>
          <a:solidFill>
            <a:srgbClr val="FFFFFF"/>
          </a:solidFill>
          <a:ln cap="flat" cmpd="sng" w="165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27"/>
          <p:cNvSpPr/>
          <p:nvPr/>
        </p:nvSpPr>
        <p:spPr>
          <a:xfrm>
            <a:off x="4620552" y="3436335"/>
            <a:ext cx="66300" cy="815100"/>
          </a:xfrm>
          <a:prstGeom prst="roundRect">
            <a:avLst>
              <a:gd fmla="val 90366" name="adj"/>
            </a:avLst>
          </a:prstGeom>
          <a:solidFill>
            <a:srgbClr val="4950BC"/>
          </a:solidFill>
          <a:ln>
            <a:noFill/>
          </a:ln>
        </p:spPr>
        <p:txBody>
          <a:bodyPr anchorCtr="0" anchor="ctr" bIns="66350" lIns="66350" spcFirstLastPara="1" rIns="66350" wrap="square" tIns="6635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27"/>
          <p:cNvSpPr/>
          <p:nvPr/>
        </p:nvSpPr>
        <p:spPr>
          <a:xfrm>
            <a:off x="4846274" y="3595689"/>
            <a:ext cx="1784700" cy="2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631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379"/>
              <a:buFont typeface="Inter"/>
              <a:buNone/>
            </a:pPr>
            <a:r>
              <a:rPr b="1" i="0" lang="en-GB" sz="137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What's inside?</a:t>
            </a:r>
            <a:endParaRPr b="0" i="0" sz="1379" u="none" cap="none" strike="noStrike"/>
          </a:p>
        </p:txBody>
      </p:sp>
      <p:sp>
        <p:nvSpPr>
          <p:cNvPr id="142" name="Google Shape;142;p27"/>
          <p:cNvSpPr/>
          <p:nvPr/>
        </p:nvSpPr>
        <p:spPr>
          <a:xfrm>
            <a:off x="4846274" y="3887089"/>
            <a:ext cx="3644400" cy="205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48882" lvl="0" marL="248882" marR="0" rtl="0" algn="l">
              <a:lnSpc>
                <a:spcPct val="146666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089"/>
              <a:buFont typeface="Inter"/>
              <a:buChar char="•"/>
            </a:pPr>
            <a:r>
              <a:rPr b="0" i="0" lang="en-GB" sz="1089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12 features from descriptions (Claude Haiku)</a:t>
            </a:r>
            <a:endParaRPr b="0" i="0" sz="1089" u="none" cap="none" strike="noStrike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8"/>
          <p:cNvSpPr/>
          <p:nvPr/>
        </p:nvSpPr>
        <p:spPr>
          <a:xfrm>
            <a:off x="6541225" y="3303450"/>
            <a:ext cx="2381700" cy="1387800"/>
          </a:xfrm>
          <a:prstGeom prst="roundRect">
            <a:avLst>
              <a:gd fmla="val 6000" name="adj"/>
            </a:avLst>
          </a:prstGeom>
          <a:solidFill>
            <a:srgbClr val="F5F7FF"/>
          </a:solidFill>
          <a:ln cap="flat" cmpd="sng" w="12700">
            <a:solidFill>
              <a:srgbClr val="B8C8E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28"/>
          <p:cNvSpPr/>
          <p:nvPr/>
        </p:nvSpPr>
        <p:spPr>
          <a:xfrm>
            <a:off x="1677225" y="2953225"/>
            <a:ext cx="3988500" cy="2190300"/>
          </a:xfrm>
          <a:prstGeom prst="roundRect">
            <a:avLst>
              <a:gd fmla="val 8000" name="adj"/>
            </a:avLst>
          </a:prstGeom>
          <a:solidFill>
            <a:srgbClr val="F2FBF2"/>
          </a:solidFill>
          <a:ln cap="flat" cmpd="sng" w="19050">
            <a:solidFill>
              <a:srgbClr val="2E8A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28"/>
          <p:cNvSpPr txBox="1"/>
          <p:nvPr>
            <p:ph type="title"/>
          </p:nvPr>
        </p:nvSpPr>
        <p:spPr>
          <a:xfrm>
            <a:off x="311700" y="195189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Query understanding</a:t>
            </a:r>
            <a:endParaRPr/>
          </a:p>
        </p:txBody>
      </p:sp>
      <p:sp>
        <p:nvSpPr>
          <p:cNvPr id="150" name="Google Shape;150;p28"/>
          <p:cNvSpPr/>
          <p:nvPr/>
        </p:nvSpPr>
        <p:spPr>
          <a:xfrm>
            <a:off x="6781550" y="840150"/>
            <a:ext cx="2303100" cy="1813500"/>
          </a:xfrm>
          <a:prstGeom prst="roundRect">
            <a:avLst>
              <a:gd fmla="val 6863" name="adj"/>
            </a:avLst>
          </a:prstGeom>
          <a:noFill/>
          <a:ln cap="flat" cmpd="sng" w="23950">
            <a:solidFill>
              <a:srgbClr val="155397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t" bIns="32325" lIns="64675" spcFirstLastPara="1" rIns="64675" wrap="square" tIns="323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20">
                <a:solidFill>
                  <a:srgbClr val="185FA5"/>
                </a:solidFill>
                <a:latin typeface="Calibri"/>
                <a:ea typeface="Calibri"/>
                <a:cs typeface="Calibri"/>
                <a:sym typeface="Calibri"/>
              </a:rPr>
              <a:t>Hard filters</a:t>
            </a:r>
            <a:r>
              <a:rPr b="1" lang="en-GB" sz="178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560">
              <a:solidFill>
                <a:srgbClr val="7A8EA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city:</a:t>
            </a:r>
            <a:r>
              <a:rPr lang="en-GB" sz="1500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GB" sz="1500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Zurich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rooms</a:t>
            </a:r>
            <a:r>
              <a:rPr lang="en-GB" sz="1500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1" lang="en-GB" sz="1500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3.0 exactly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max_price</a:t>
            </a:r>
            <a:r>
              <a:rPr lang="en-GB" sz="1500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b="1" lang="en-GB" sz="1500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CHF 2800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offer_type:</a:t>
            </a:r>
            <a:r>
              <a:rPr lang="en-GB" sz="1500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GB" sz="1500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RENT</a:t>
            </a:r>
            <a:endParaRPr sz="15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142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Fail any  -&gt;  listing excluded</a:t>
            </a:r>
            <a:endParaRPr b="1" sz="20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2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28"/>
          <p:cNvSpPr/>
          <p:nvPr/>
        </p:nvSpPr>
        <p:spPr>
          <a:xfrm>
            <a:off x="3441238" y="840150"/>
            <a:ext cx="2431500" cy="1813500"/>
          </a:xfrm>
          <a:prstGeom prst="roundRect">
            <a:avLst>
              <a:gd fmla="val 6863" name="adj"/>
            </a:avLst>
          </a:prstGeom>
          <a:noFill/>
          <a:ln cap="flat" cmpd="sng" w="23950">
            <a:solidFill>
              <a:srgbClr val="155397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t" bIns="33825" lIns="67700" spcFirstLastPara="1" rIns="67700" wrap="square" tIns="338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1620">
                <a:solidFill>
                  <a:srgbClr val="185FA5"/>
                </a:solidFill>
                <a:latin typeface="Calibri"/>
                <a:ea typeface="Calibri"/>
                <a:cs typeface="Calibri"/>
                <a:sym typeface="Calibri"/>
              </a:rPr>
              <a:t>Claude (LLM parser)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2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Structured JSON output prompt</a:t>
            </a:r>
            <a:endParaRPr sz="2100"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1" sz="1660">
              <a:solidFill>
                <a:srgbClr val="1E3A6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Detects intent, intensity,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hedge words, Swiss terms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(3.5-Zimmer, ab sofort)</a:t>
            </a:r>
            <a:endParaRPr sz="2100">
              <a:solidFill>
                <a:schemeClr val="dk1"/>
              </a:solidFill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82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8"/>
          <p:cNvSpPr txBox="1"/>
          <p:nvPr/>
        </p:nvSpPr>
        <p:spPr>
          <a:xfrm>
            <a:off x="866650" y="907625"/>
            <a:ext cx="1605300" cy="993300"/>
          </a:xfrm>
          <a:prstGeom prst="rect">
            <a:avLst/>
          </a:prstGeom>
          <a:noFill/>
          <a:ln>
            <a:noFill/>
          </a:ln>
        </p:spPr>
        <p:txBody>
          <a:bodyPr anchorCtr="0" anchor="t" bIns="40000" lIns="60000" spcFirstLastPara="1" rIns="6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153" name="Google Shape;153;p28"/>
          <p:cNvSpPr/>
          <p:nvPr/>
        </p:nvSpPr>
        <p:spPr>
          <a:xfrm>
            <a:off x="197225" y="840150"/>
            <a:ext cx="2303100" cy="1813500"/>
          </a:xfrm>
          <a:prstGeom prst="roundRect">
            <a:avLst>
              <a:gd fmla="val 6863" name="adj"/>
            </a:avLst>
          </a:prstGeom>
          <a:noFill/>
          <a:ln cap="flat" cmpd="sng" w="25075">
            <a:solidFill>
              <a:srgbClr val="155397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t" bIns="33825" lIns="67700" spcFirstLastPara="1" rIns="67700" wrap="square" tIns="338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GB" sz="1620">
                <a:solidFill>
                  <a:srgbClr val="185FA5"/>
                </a:solidFill>
                <a:latin typeface="Calibri"/>
                <a:ea typeface="Calibri"/>
                <a:cs typeface="Calibri"/>
                <a:sym typeface="Calibri"/>
              </a:rPr>
              <a:t>Raw query input</a:t>
            </a:r>
            <a:endParaRPr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"3-room bright apartment</a:t>
            </a:r>
            <a:endParaRPr sz="1500">
              <a:solidFill>
                <a:srgbClr val="3A6A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 in Zurich under 2800 CHF</a:t>
            </a:r>
            <a:endParaRPr sz="1500">
              <a:solidFill>
                <a:srgbClr val="3A6A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 with balcony, close to</a:t>
            </a:r>
            <a:endParaRPr sz="1500">
              <a:solidFill>
                <a:srgbClr val="3A6A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 public transport,</a:t>
            </a:r>
            <a:endParaRPr sz="1500">
              <a:solidFill>
                <a:srgbClr val="3A6A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GB" sz="1500">
                <a:solidFill>
                  <a:srgbClr val="3A6A9A"/>
                </a:solidFill>
                <a:latin typeface="Calibri"/>
                <a:ea typeface="Calibri"/>
                <a:cs typeface="Calibri"/>
                <a:sym typeface="Calibri"/>
              </a:rPr>
              <a:t> ideally quiet"</a:t>
            </a:r>
            <a:endParaRPr sz="1500">
              <a:solidFill>
                <a:srgbClr val="3A6A9A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82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8"/>
          <p:cNvSpPr txBox="1"/>
          <p:nvPr/>
        </p:nvSpPr>
        <p:spPr>
          <a:xfrm>
            <a:off x="6960775" y="518250"/>
            <a:ext cx="1962300" cy="32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0000" lIns="60000" spcFirstLastPara="1" rIns="6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/>
          </a:p>
        </p:txBody>
      </p:sp>
      <p:sp>
        <p:nvSpPr>
          <p:cNvPr id="155" name="Google Shape;155;p28"/>
          <p:cNvSpPr/>
          <p:nvPr/>
        </p:nvSpPr>
        <p:spPr>
          <a:xfrm>
            <a:off x="2577629" y="1433825"/>
            <a:ext cx="786300" cy="467100"/>
          </a:xfrm>
          <a:prstGeom prst="rightArrow">
            <a:avLst>
              <a:gd fmla="val 48756" name="adj1"/>
              <a:gd fmla="val 47306" name="adj2"/>
            </a:avLst>
          </a:prstGeom>
          <a:solidFill>
            <a:srgbClr val="FFFFFF"/>
          </a:solidFill>
          <a:ln cap="flat" cmpd="sng" w="12700">
            <a:solidFill>
              <a:srgbClr val="7F7F7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400">
              <a:solidFill>
                <a:srgbClr val="7F7F7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6" name="Google Shape;156;p28"/>
          <p:cNvSpPr/>
          <p:nvPr/>
        </p:nvSpPr>
        <p:spPr>
          <a:xfrm>
            <a:off x="5934000" y="1595275"/>
            <a:ext cx="786300" cy="434100"/>
          </a:xfrm>
          <a:prstGeom prst="rightArrow">
            <a:avLst>
              <a:gd fmla="val 48756" name="adj1"/>
              <a:gd fmla="val 47306" name="adj2"/>
            </a:avLst>
          </a:prstGeom>
          <a:solidFill>
            <a:srgbClr val="FFFFFF"/>
          </a:solidFill>
          <a:ln cap="flat" cmpd="sng" w="12700">
            <a:solidFill>
              <a:srgbClr val="7F7F7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400">
              <a:solidFill>
                <a:srgbClr val="7F7F7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7" name="Google Shape;157;p28"/>
          <p:cNvSpPr/>
          <p:nvPr/>
        </p:nvSpPr>
        <p:spPr>
          <a:xfrm rot="7950627">
            <a:off x="5830512" y="2785780"/>
            <a:ext cx="786267" cy="467135"/>
          </a:xfrm>
          <a:prstGeom prst="rightArrow">
            <a:avLst>
              <a:gd fmla="val 48756" name="adj1"/>
              <a:gd fmla="val 47306" name="adj2"/>
            </a:avLst>
          </a:prstGeom>
          <a:solidFill>
            <a:srgbClr val="FFFFFF"/>
          </a:solidFill>
          <a:ln cap="flat" cmpd="sng" w="12700">
            <a:solidFill>
              <a:srgbClr val="7F7F7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1" sz="1400">
              <a:solidFill>
                <a:srgbClr val="7F7F7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158" name="Google Shape;158;p28" title="Screenshot 2026-04-19 at 11.41.26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3803" y="3342563"/>
            <a:ext cx="3675331" cy="1714625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7F7F7F"/>
            </a:solidFill>
            <a:prstDash val="solid"/>
            <a:miter lim="8000"/>
            <a:headEnd len="sm" w="sm" type="none"/>
            <a:tailEnd len="sm" w="sm" type="none"/>
          </a:ln>
        </p:spPr>
      </p:pic>
      <p:sp>
        <p:nvSpPr>
          <p:cNvPr id="159" name="Google Shape;159;p28"/>
          <p:cNvSpPr txBox="1"/>
          <p:nvPr/>
        </p:nvSpPr>
        <p:spPr>
          <a:xfrm>
            <a:off x="1667500" y="2953225"/>
            <a:ext cx="3988500" cy="43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20">
                <a:solidFill>
                  <a:srgbClr val="185FA5"/>
                </a:solidFill>
                <a:latin typeface="Calibri"/>
                <a:ea typeface="Calibri"/>
                <a:cs typeface="Calibri"/>
                <a:sym typeface="Calibri"/>
              </a:rPr>
              <a:t>Soft filters: intensity-weighted scoring</a:t>
            </a:r>
            <a:endParaRPr/>
          </a:p>
        </p:txBody>
      </p:sp>
      <p:sp>
        <p:nvSpPr>
          <p:cNvPr id="160" name="Google Shape;160;p28"/>
          <p:cNvSpPr txBox="1"/>
          <p:nvPr/>
        </p:nvSpPr>
        <p:spPr>
          <a:xfrm>
            <a:off x="6541225" y="3303450"/>
            <a:ext cx="2431500" cy="138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0000" lIns="60000" spcFirstLastPara="1" rIns="6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100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Key insight:  </a:t>
            </a:r>
            <a:r>
              <a:rPr b="1" i="0" lang="en-GB" sz="1000" u="none" cap="none" strike="noStrike">
                <a:solidFill>
                  <a:srgbClr val="1E3A6E"/>
                </a:solidFill>
                <a:latin typeface="Courier New"/>
                <a:ea typeface="Courier New"/>
                <a:cs typeface="Courier New"/>
                <a:sym typeface="Courier New"/>
              </a:rPr>
              <a:t>"must have parking"</a:t>
            </a:r>
            <a:r>
              <a:rPr b="0" i="0" lang="en-GB" sz="1000" u="none" cap="none" strike="noStrike">
                <a:solidFill>
                  <a:srgbClr val="3A4A6A"/>
                </a:solidFill>
                <a:latin typeface="Calibri"/>
                <a:ea typeface="Calibri"/>
                <a:cs typeface="Calibri"/>
                <a:sym typeface="Calibri"/>
              </a:rPr>
              <a:t>  scores </a:t>
            </a:r>
            <a:r>
              <a:rPr b="1" i="0" lang="en-GB" sz="110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6x higher</a:t>
            </a:r>
            <a:r>
              <a:rPr b="0" i="0" lang="en-GB" sz="1000" u="none" cap="none" strike="noStrike">
                <a:solidFill>
                  <a:srgbClr val="3A4A6A"/>
                </a:solidFill>
                <a:latin typeface="Calibri"/>
                <a:ea typeface="Calibri"/>
                <a:cs typeface="Calibri"/>
                <a:sym typeface="Calibri"/>
              </a:rPr>
              <a:t>  than  </a:t>
            </a:r>
            <a:r>
              <a:rPr b="1" i="0" lang="en-GB" sz="1000" u="none" cap="none" strike="noStrike">
                <a:solidFill>
                  <a:srgbClr val="8AAA20"/>
                </a:solidFill>
                <a:latin typeface="Courier New"/>
                <a:ea typeface="Courier New"/>
                <a:cs typeface="Courier New"/>
                <a:sym typeface="Courier New"/>
              </a:rPr>
              <a:t>"bright would be nice"</a:t>
            </a:r>
            <a:r>
              <a:rPr b="0" i="0" lang="en-GB" sz="1000" u="none" cap="none" strike="noStrike">
                <a:solidFill>
                  <a:srgbClr val="3A4A6A"/>
                </a:solidFill>
                <a:latin typeface="Calibri"/>
                <a:ea typeface="Calibri"/>
                <a:cs typeface="Calibri"/>
                <a:sym typeface="Calibri"/>
              </a:rPr>
              <a:t>  — intensity detected from language, not from explicit settings.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90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Claude identifies hedge words (ideally, would be nice, if possible) and certainty markers (must, essential, required), mapping them to weight multipliers 0.15 to 1.00.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Soft Signal</a:t>
            </a:r>
            <a:endParaRPr/>
          </a:p>
        </p:txBody>
      </p:sp>
      <p:pic>
        <p:nvPicPr>
          <p:cNvPr id="166" name="Google Shape;16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45713" y="445025"/>
            <a:ext cx="4652577" cy="46984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30" title="09b2eb18-928e-d3cf-b7a6-ac99810746b6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61575" y="1228896"/>
            <a:ext cx="2154400" cy="143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0"/>
          <p:cNvSpPr txBox="1"/>
          <p:nvPr>
            <p:ph type="title"/>
          </p:nvPr>
        </p:nvSpPr>
        <p:spPr>
          <a:xfrm>
            <a:off x="311700" y="195189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Image RAG Service</a:t>
            </a:r>
            <a:endParaRPr/>
          </a:p>
        </p:txBody>
      </p:sp>
      <p:sp>
        <p:nvSpPr>
          <p:cNvPr id="173" name="Google Shape;173;p30"/>
          <p:cNvSpPr/>
          <p:nvPr/>
        </p:nvSpPr>
        <p:spPr>
          <a:xfrm>
            <a:off x="3503025" y="1645200"/>
            <a:ext cx="994800" cy="3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74" name="Google Shape;174;p30"/>
          <p:cNvSpPr/>
          <p:nvPr/>
        </p:nvSpPr>
        <p:spPr>
          <a:xfrm>
            <a:off x="3503025" y="2110725"/>
            <a:ext cx="994800" cy="3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75" name="Google Shape;175;p30"/>
          <p:cNvSpPr/>
          <p:nvPr/>
        </p:nvSpPr>
        <p:spPr>
          <a:xfrm>
            <a:off x="3503025" y="2576250"/>
            <a:ext cx="994800" cy="3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76" name="Google Shape;176;p30"/>
          <p:cNvSpPr/>
          <p:nvPr/>
        </p:nvSpPr>
        <p:spPr>
          <a:xfrm>
            <a:off x="3503025" y="3041775"/>
            <a:ext cx="994800" cy="3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77" name="Google Shape;177;p30"/>
          <p:cNvSpPr/>
          <p:nvPr/>
        </p:nvSpPr>
        <p:spPr>
          <a:xfrm>
            <a:off x="3503025" y="3507300"/>
            <a:ext cx="994800" cy="306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178" name="Google Shape;178;p30" title="8affae55-2bca-7b22-ca58-3ef6ecf732ba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103025" y="1873426"/>
            <a:ext cx="2154400" cy="143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30" title="c36dafe9-b6ef-5324-759c-f8a50bd01846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87875" y="2485437"/>
            <a:ext cx="2360099" cy="157462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80" name="Google Shape;180;p30"/>
          <p:cNvCxnSpPr>
            <a:endCxn id="176" idx="3"/>
          </p:cNvCxnSpPr>
          <p:nvPr/>
        </p:nvCxnSpPr>
        <p:spPr>
          <a:xfrm rot="10800000">
            <a:off x="4497825" y="3195225"/>
            <a:ext cx="1858500" cy="346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1" name="Google Shape;181;p30"/>
          <p:cNvCxnSpPr/>
          <p:nvPr/>
        </p:nvCxnSpPr>
        <p:spPr>
          <a:xfrm rot="10800000">
            <a:off x="4497825" y="2691825"/>
            <a:ext cx="1890000" cy="130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2" name="Google Shape;182;p30"/>
          <p:cNvCxnSpPr>
            <a:endCxn id="174" idx="3"/>
          </p:cNvCxnSpPr>
          <p:nvPr/>
        </p:nvCxnSpPr>
        <p:spPr>
          <a:xfrm flipH="1">
            <a:off x="4497825" y="1867275"/>
            <a:ext cx="967500" cy="39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3" name="Google Shape;183;p30"/>
          <p:cNvSpPr/>
          <p:nvPr/>
        </p:nvSpPr>
        <p:spPr>
          <a:xfrm>
            <a:off x="3725325" y="4088450"/>
            <a:ext cx="152400" cy="15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4" name="Google Shape;184;p30"/>
          <p:cNvSpPr/>
          <p:nvPr/>
        </p:nvSpPr>
        <p:spPr>
          <a:xfrm>
            <a:off x="3924225" y="4088450"/>
            <a:ext cx="152400" cy="15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5" name="Google Shape;185;p30"/>
          <p:cNvSpPr/>
          <p:nvPr/>
        </p:nvSpPr>
        <p:spPr>
          <a:xfrm>
            <a:off x="4123125" y="4088450"/>
            <a:ext cx="152400" cy="152400"/>
          </a:xfrm>
          <a:prstGeom prst="ellipse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86" name="Google Shape;186;p30"/>
          <p:cNvSpPr txBox="1"/>
          <p:nvPr/>
        </p:nvSpPr>
        <p:spPr>
          <a:xfrm>
            <a:off x="429550" y="1798650"/>
            <a:ext cx="2493300" cy="6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rPr>
              <a:t>“I am looking for …”</a:t>
            </a:r>
            <a:endParaRPr sz="1800">
              <a:solidFill>
                <a:schemeClr val="dk2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187" name="Google Shape;187;p30"/>
          <p:cNvCxnSpPr>
            <a:stCxn id="186" idx="3"/>
          </p:cNvCxnSpPr>
          <p:nvPr/>
        </p:nvCxnSpPr>
        <p:spPr>
          <a:xfrm flipH="1" rot="10800000">
            <a:off x="2922850" y="2119650"/>
            <a:ext cx="382800" cy="1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88" name="Google Shape;188;p30"/>
          <p:cNvCxnSpPr/>
          <p:nvPr/>
        </p:nvCxnSpPr>
        <p:spPr>
          <a:xfrm rot="10800000">
            <a:off x="2910250" y="3195225"/>
            <a:ext cx="395400" cy="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89" name="Google Shape;189;p30"/>
          <p:cNvSpPr txBox="1"/>
          <p:nvPr/>
        </p:nvSpPr>
        <p:spPr>
          <a:xfrm>
            <a:off x="670425" y="2383725"/>
            <a:ext cx="2493300" cy="162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rPr>
              <a:t>{</a:t>
            </a:r>
            <a:endParaRPr sz="1800">
              <a:solidFill>
                <a:schemeClr val="dk2"/>
              </a:solidFill>
              <a:latin typeface="Avenir"/>
              <a:ea typeface="Avenir"/>
              <a:cs typeface="Avenir"/>
              <a:sym typeface="Aveni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rPr>
              <a:t>  Listing a : 0.95</a:t>
            </a:r>
            <a:endParaRPr sz="1800">
              <a:solidFill>
                <a:schemeClr val="dk2"/>
              </a:solidFill>
              <a:latin typeface="Avenir"/>
              <a:ea typeface="Avenir"/>
              <a:cs typeface="Avenir"/>
              <a:sym typeface="Aveni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rPr>
              <a:t>  Listing b : 0.92</a:t>
            </a:r>
            <a:endParaRPr sz="1800">
              <a:solidFill>
                <a:schemeClr val="dk2"/>
              </a:solidFill>
              <a:latin typeface="Avenir"/>
              <a:ea typeface="Avenir"/>
              <a:cs typeface="Avenir"/>
              <a:sym typeface="Aveni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rPr>
              <a:t>  Listing c : 0.85</a:t>
            </a:r>
            <a:endParaRPr sz="1800">
              <a:solidFill>
                <a:schemeClr val="dk2"/>
              </a:solidFill>
              <a:latin typeface="Avenir"/>
              <a:ea typeface="Avenir"/>
              <a:cs typeface="Avenir"/>
              <a:sym typeface="Avenir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800">
                <a:solidFill>
                  <a:schemeClr val="dk2"/>
                </a:solidFill>
                <a:latin typeface="Avenir"/>
                <a:ea typeface="Avenir"/>
                <a:cs typeface="Avenir"/>
                <a:sym typeface="Avenir"/>
              </a:rPr>
              <a:t>}</a:t>
            </a:r>
            <a:endParaRPr b="1" sz="13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Avenir"/>
              <a:ea typeface="Avenir"/>
              <a:cs typeface="Avenir"/>
              <a:sym typeface="Avenir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90" name="Google Shape;190;p30"/>
          <p:cNvSpPr txBox="1"/>
          <p:nvPr>
            <p:ph type="title"/>
          </p:nvPr>
        </p:nvSpPr>
        <p:spPr>
          <a:xfrm>
            <a:off x="390350" y="620400"/>
            <a:ext cx="4887600" cy="91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1600">
                <a:solidFill>
                  <a:schemeClr val="dk2"/>
                </a:solidFill>
              </a:rPr>
              <a:t>Rerank candidate listings by visual similarity</a:t>
            </a:r>
            <a:endParaRPr sz="162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1"/>
          <p:cNvSpPr/>
          <p:nvPr/>
        </p:nvSpPr>
        <p:spPr>
          <a:xfrm>
            <a:off x="4565485" y="797350"/>
            <a:ext cx="15000" cy="4309800"/>
          </a:xfrm>
          <a:prstGeom prst="roundRect">
            <a:avLst>
              <a:gd fmla="val 382725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31"/>
          <p:cNvSpPr/>
          <p:nvPr/>
        </p:nvSpPr>
        <p:spPr>
          <a:xfrm>
            <a:off x="3982703" y="954432"/>
            <a:ext cx="440400" cy="16200"/>
          </a:xfrm>
          <a:prstGeom prst="roundRect">
            <a:avLst>
              <a:gd fmla="val 382725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31"/>
          <p:cNvSpPr/>
          <p:nvPr/>
        </p:nvSpPr>
        <p:spPr>
          <a:xfrm>
            <a:off x="4406995" y="797352"/>
            <a:ext cx="330300" cy="330300"/>
          </a:xfrm>
          <a:prstGeom prst="roundRect">
            <a:avLst>
              <a:gd fmla="val 18670" name="adj"/>
            </a:avLst>
          </a:prstGeom>
          <a:solidFill>
            <a:srgbClr val="DADBF1"/>
          </a:solidFill>
          <a:ln cap="flat" cmpd="sng" w="100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31"/>
          <p:cNvSpPr/>
          <p:nvPr/>
        </p:nvSpPr>
        <p:spPr>
          <a:xfrm>
            <a:off x="4462062" y="824853"/>
            <a:ext cx="220200" cy="2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91"/>
              <a:buFont typeface="Inter"/>
              <a:buNone/>
            </a:pPr>
            <a:r>
              <a:rPr b="1" i="0" lang="en-GB" sz="1691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1</a:t>
            </a:r>
            <a:endParaRPr b="0" i="0" sz="1691" u="none" cap="none" strike="noStrike"/>
          </a:p>
        </p:txBody>
      </p:sp>
      <p:sp>
        <p:nvSpPr>
          <p:cNvPr id="199" name="Google Shape;199;p31"/>
          <p:cNvSpPr/>
          <p:nvPr/>
        </p:nvSpPr>
        <p:spPr>
          <a:xfrm>
            <a:off x="2002966" y="847698"/>
            <a:ext cx="18348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27"/>
              <a:buFont typeface="Inter"/>
              <a:buNone/>
            </a:pPr>
            <a:r>
              <a:rPr b="1" i="0" lang="en-GB" sz="1427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Extract Preferences</a:t>
            </a:r>
            <a:endParaRPr b="0" i="0" sz="1427" u="none" cap="none" strike="noStrike"/>
          </a:p>
        </p:txBody>
      </p:sp>
      <p:sp>
        <p:nvSpPr>
          <p:cNvPr id="200" name="Google Shape;200;p31"/>
          <p:cNvSpPr/>
          <p:nvPr/>
        </p:nvSpPr>
        <p:spPr>
          <a:xfrm>
            <a:off x="388113" y="1126491"/>
            <a:ext cx="3449700" cy="1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10"/>
              <a:buFont typeface="Inter"/>
              <a:buNone/>
            </a:pPr>
            <a:r>
              <a:rPr b="0" i="0" lang="en-GB" sz="111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bright, quiet, balcony, public_transport, …</a:t>
            </a:r>
            <a:endParaRPr b="0" i="0" sz="1110" u="none" cap="none" strike="noStrike"/>
          </a:p>
        </p:txBody>
      </p:sp>
      <p:sp>
        <p:nvSpPr>
          <p:cNvPr id="201" name="Google Shape;201;p31"/>
          <p:cNvSpPr/>
          <p:nvPr/>
        </p:nvSpPr>
        <p:spPr>
          <a:xfrm>
            <a:off x="4721155" y="1706731"/>
            <a:ext cx="440400" cy="16200"/>
          </a:xfrm>
          <a:prstGeom prst="roundRect">
            <a:avLst>
              <a:gd fmla="val 382725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31"/>
          <p:cNvSpPr/>
          <p:nvPr/>
        </p:nvSpPr>
        <p:spPr>
          <a:xfrm>
            <a:off x="4406995" y="1549651"/>
            <a:ext cx="330300" cy="330300"/>
          </a:xfrm>
          <a:prstGeom prst="roundRect">
            <a:avLst>
              <a:gd fmla="val 18670" name="adj"/>
            </a:avLst>
          </a:prstGeom>
          <a:solidFill>
            <a:srgbClr val="DADBF1"/>
          </a:solidFill>
          <a:ln cap="flat" cmpd="sng" w="100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31"/>
          <p:cNvSpPr/>
          <p:nvPr/>
        </p:nvSpPr>
        <p:spPr>
          <a:xfrm>
            <a:off x="4462062" y="1577152"/>
            <a:ext cx="220200" cy="2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91"/>
              <a:buFont typeface="Inter"/>
              <a:buNone/>
            </a:pPr>
            <a:r>
              <a:rPr b="1" i="0" lang="en-GB" sz="1691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2</a:t>
            </a:r>
            <a:endParaRPr b="0" i="0" sz="1691" u="none" cap="none" strike="noStrike"/>
          </a:p>
        </p:txBody>
      </p:sp>
      <p:sp>
        <p:nvSpPr>
          <p:cNvPr id="204" name="Google Shape;204;p31"/>
          <p:cNvSpPr/>
          <p:nvPr/>
        </p:nvSpPr>
        <p:spPr>
          <a:xfrm>
            <a:off x="5306178" y="1599997"/>
            <a:ext cx="18348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27"/>
              <a:buFont typeface="Inter"/>
              <a:buNone/>
            </a:pPr>
            <a:r>
              <a:rPr b="1" i="0" lang="en-GB" sz="1427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Assign Weights</a:t>
            </a:r>
            <a:endParaRPr b="0" i="0" sz="1427" u="none" cap="none" strike="noStrike"/>
          </a:p>
        </p:txBody>
      </p:sp>
      <p:sp>
        <p:nvSpPr>
          <p:cNvPr id="205" name="Google Shape;205;p31"/>
          <p:cNvSpPr/>
          <p:nvPr/>
        </p:nvSpPr>
        <p:spPr>
          <a:xfrm>
            <a:off x="5306178" y="1878789"/>
            <a:ext cx="3449700" cy="1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10"/>
              <a:buFont typeface="Inter"/>
              <a:buNone/>
            </a:pPr>
            <a:r>
              <a:rPr b="0" i="0" lang="en-GB" sz="111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each signal gets a weight value</a:t>
            </a:r>
            <a:endParaRPr b="0" i="0" sz="1110" u="none" cap="none" strike="noStrike"/>
          </a:p>
        </p:txBody>
      </p:sp>
      <p:sp>
        <p:nvSpPr>
          <p:cNvPr id="206" name="Google Shape;206;p31"/>
          <p:cNvSpPr/>
          <p:nvPr/>
        </p:nvSpPr>
        <p:spPr>
          <a:xfrm>
            <a:off x="3982703" y="2401635"/>
            <a:ext cx="440400" cy="16200"/>
          </a:xfrm>
          <a:prstGeom prst="roundRect">
            <a:avLst>
              <a:gd fmla="val 382725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31"/>
          <p:cNvSpPr/>
          <p:nvPr/>
        </p:nvSpPr>
        <p:spPr>
          <a:xfrm>
            <a:off x="4406995" y="2244555"/>
            <a:ext cx="330300" cy="330300"/>
          </a:xfrm>
          <a:prstGeom prst="roundRect">
            <a:avLst>
              <a:gd fmla="val 18670" name="adj"/>
            </a:avLst>
          </a:prstGeom>
          <a:solidFill>
            <a:srgbClr val="DADBF1"/>
          </a:solidFill>
          <a:ln cap="flat" cmpd="sng" w="100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31"/>
          <p:cNvSpPr/>
          <p:nvPr/>
        </p:nvSpPr>
        <p:spPr>
          <a:xfrm>
            <a:off x="4462062" y="2272056"/>
            <a:ext cx="220200" cy="2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91"/>
              <a:buFont typeface="Inter"/>
              <a:buNone/>
            </a:pPr>
            <a:r>
              <a:rPr b="1" i="0" lang="en-GB" sz="1691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3</a:t>
            </a:r>
            <a:endParaRPr b="0" i="0" sz="1691" u="none" cap="none" strike="noStrike"/>
          </a:p>
        </p:txBody>
      </p:sp>
      <p:sp>
        <p:nvSpPr>
          <p:cNvPr id="209" name="Google Shape;209;p31"/>
          <p:cNvSpPr/>
          <p:nvPr/>
        </p:nvSpPr>
        <p:spPr>
          <a:xfrm>
            <a:off x="2002966" y="2294901"/>
            <a:ext cx="18348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27"/>
              <a:buFont typeface="Inter"/>
              <a:buNone/>
            </a:pPr>
            <a:r>
              <a:rPr b="1" i="0" lang="en-GB" sz="1427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Calculate Score</a:t>
            </a:r>
            <a:endParaRPr b="0" i="0" sz="1427" u="none" cap="none" strike="noStrike"/>
          </a:p>
        </p:txBody>
      </p:sp>
      <p:sp>
        <p:nvSpPr>
          <p:cNvPr id="210" name="Google Shape;210;p31"/>
          <p:cNvSpPr/>
          <p:nvPr/>
        </p:nvSpPr>
        <p:spPr>
          <a:xfrm>
            <a:off x="388113" y="2573693"/>
            <a:ext cx="3449700" cy="1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10"/>
              <a:buFont typeface="Inter"/>
              <a:buNone/>
            </a:pPr>
            <a:r>
              <a:rPr b="0" i="0" lang="en-GB" sz="111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weight × match_strength per signal</a:t>
            </a:r>
            <a:endParaRPr b="0" i="0" sz="1110" u="none" cap="none" strike="noStrike"/>
          </a:p>
        </p:txBody>
      </p:sp>
      <p:sp>
        <p:nvSpPr>
          <p:cNvPr id="211" name="Google Shape;211;p31"/>
          <p:cNvSpPr/>
          <p:nvPr/>
        </p:nvSpPr>
        <p:spPr>
          <a:xfrm>
            <a:off x="4721155" y="3096664"/>
            <a:ext cx="440400" cy="16200"/>
          </a:xfrm>
          <a:prstGeom prst="roundRect">
            <a:avLst>
              <a:gd fmla="val 382725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31"/>
          <p:cNvSpPr/>
          <p:nvPr/>
        </p:nvSpPr>
        <p:spPr>
          <a:xfrm>
            <a:off x="4406995" y="2939584"/>
            <a:ext cx="330300" cy="330300"/>
          </a:xfrm>
          <a:prstGeom prst="roundRect">
            <a:avLst>
              <a:gd fmla="val 18670" name="adj"/>
            </a:avLst>
          </a:prstGeom>
          <a:solidFill>
            <a:srgbClr val="DADBF1"/>
          </a:solidFill>
          <a:ln cap="flat" cmpd="sng" w="100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31"/>
          <p:cNvSpPr/>
          <p:nvPr/>
        </p:nvSpPr>
        <p:spPr>
          <a:xfrm>
            <a:off x="4462062" y="2967086"/>
            <a:ext cx="220200" cy="2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91"/>
              <a:buFont typeface="Inter"/>
              <a:buNone/>
            </a:pPr>
            <a:r>
              <a:rPr b="1" i="0" lang="en-GB" sz="1691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4</a:t>
            </a:r>
            <a:endParaRPr b="0" i="0" sz="1691" u="none" cap="none" strike="noStrike"/>
          </a:p>
        </p:txBody>
      </p:sp>
      <p:sp>
        <p:nvSpPr>
          <p:cNvPr id="214" name="Google Shape;214;p31"/>
          <p:cNvSpPr/>
          <p:nvPr/>
        </p:nvSpPr>
        <p:spPr>
          <a:xfrm>
            <a:off x="5306178" y="2989930"/>
            <a:ext cx="18348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27"/>
              <a:buFont typeface="Inter"/>
              <a:buNone/>
            </a:pPr>
            <a:r>
              <a:rPr b="1" i="0" lang="en-GB" sz="1427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Apply Quality Bonus</a:t>
            </a:r>
            <a:endParaRPr b="0" i="0" sz="1427" u="none" cap="none" strike="noStrike"/>
          </a:p>
        </p:txBody>
      </p:sp>
      <p:sp>
        <p:nvSpPr>
          <p:cNvPr id="215" name="Google Shape;215;p31"/>
          <p:cNvSpPr/>
          <p:nvPr/>
        </p:nvSpPr>
        <p:spPr>
          <a:xfrm>
            <a:off x="5306178" y="3268722"/>
            <a:ext cx="3449700" cy="1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10"/>
              <a:buFont typeface="Inter"/>
              <a:buNone/>
            </a:pPr>
            <a:r>
              <a:rPr b="0" i="0" lang="en-GB" sz="111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for stronger tie-breaking</a:t>
            </a:r>
            <a:endParaRPr b="0" i="0" sz="1110" u="none" cap="none" strike="noStrike"/>
          </a:p>
        </p:txBody>
      </p:sp>
      <p:sp>
        <p:nvSpPr>
          <p:cNvPr id="216" name="Google Shape;216;p31"/>
          <p:cNvSpPr/>
          <p:nvPr/>
        </p:nvSpPr>
        <p:spPr>
          <a:xfrm>
            <a:off x="3982703" y="3791694"/>
            <a:ext cx="440400" cy="16200"/>
          </a:xfrm>
          <a:prstGeom prst="roundRect">
            <a:avLst>
              <a:gd fmla="val 382725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31"/>
          <p:cNvSpPr/>
          <p:nvPr/>
        </p:nvSpPr>
        <p:spPr>
          <a:xfrm>
            <a:off x="4406995" y="3634614"/>
            <a:ext cx="330300" cy="330300"/>
          </a:xfrm>
          <a:prstGeom prst="roundRect">
            <a:avLst>
              <a:gd fmla="val 18670" name="adj"/>
            </a:avLst>
          </a:prstGeom>
          <a:solidFill>
            <a:srgbClr val="DADBF1"/>
          </a:solidFill>
          <a:ln cap="flat" cmpd="sng" w="100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31"/>
          <p:cNvSpPr/>
          <p:nvPr/>
        </p:nvSpPr>
        <p:spPr>
          <a:xfrm>
            <a:off x="4462062" y="3662115"/>
            <a:ext cx="220200" cy="2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91"/>
              <a:buFont typeface="Inter"/>
              <a:buNone/>
            </a:pPr>
            <a:r>
              <a:rPr b="1" i="0" lang="en-GB" sz="1691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5</a:t>
            </a:r>
            <a:endParaRPr b="0" i="0" sz="1691" u="none" cap="none" strike="noStrike"/>
          </a:p>
        </p:txBody>
      </p:sp>
      <p:sp>
        <p:nvSpPr>
          <p:cNvPr id="219" name="Google Shape;219;p31"/>
          <p:cNvSpPr/>
          <p:nvPr/>
        </p:nvSpPr>
        <p:spPr>
          <a:xfrm>
            <a:off x="2002966" y="3684960"/>
            <a:ext cx="18348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27"/>
              <a:buFont typeface="Inter"/>
              <a:buNone/>
            </a:pPr>
            <a:r>
              <a:rPr b="1" i="0" lang="en-GB" sz="1427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Boost by Images</a:t>
            </a:r>
            <a:endParaRPr b="0" i="0" sz="1427" u="none" cap="none" strike="noStrike"/>
          </a:p>
        </p:txBody>
      </p:sp>
      <p:sp>
        <p:nvSpPr>
          <p:cNvPr id="220" name="Google Shape;220;p31"/>
          <p:cNvSpPr/>
          <p:nvPr/>
        </p:nvSpPr>
        <p:spPr>
          <a:xfrm>
            <a:off x="388113" y="3963753"/>
            <a:ext cx="3449700" cy="1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10"/>
              <a:buFont typeface="Inter"/>
              <a:buNone/>
            </a:pPr>
            <a:r>
              <a:rPr b="0" i="0" lang="en-GB" sz="111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match query images</a:t>
            </a:r>
            <a:endParaRPr b="0" i="0" sz="1110" u="none" cap="none" strike="noStrike"/>
          </a:p>
        </p:txBody>
      </p:sp>
      <p:sp>
        <p:nvSpPr>
          <p:cNvPr id="221" name="Google Shape;221;p31"/>
          <p:cNvSpPr/>
          <p:nvPr/>
        </p:nvSpPr>
        <p:spPr>
          <a:xfrm>
            <a:off x="4721155" y="4486724"/>
            <a:ext cx="440400" cy="16200"/>
          </a:xfrm>
          <a:prstGeom prst="roundRect">
            <a:avLst>
              <a:gd fmla="val 382725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31"/>
          <p:cNvSpPr/>
          <p:nvPr/>
        </p:nvSpPr>
        <p:spPr>
          <a:xfrm>
            <a:off x="4406995" y="4329643"/>
            <a:ext cx="330300" cy="330300"/>
          </a:xfrm>
          <a:prstGeom prst="roundRect">
            <a:avLst>
              <a:gd fmla="val 18670" name="adj"/>
            </a:avLst>
          </a:prstGeom>
          <a:solidFill>
            <a:srgbClr val="DADBF1"/>
          </a:solidFill>
          <a:ln cap="flat" cmpd="sng" w="10075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6625" lIns="96625" spcFirstLastPara="1" rIns="96625" wrap="square" tIns="966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31"/>
          <p:cNvSpPr/>
          <p:nvPr/>
        </p:nvSpPr>
        <p:spPr>
          <a:xfrm>
            <a:off x="4462062" y="4357145"/>
            <a:ext cx="220200" cy="2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691"/>
              <a:buFont typeface="Inter"/>
              <a:buNone/>
            </a:pPr>
            <a:r>
              <a:rPr b="1" i="0" lang="en-GB" sz="1691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6</a:t>
            </a:r>
            <a:endParaRPr b="0" i="0" sz="1691" u="none" cap="none" strike="noStrike"/>
          </a:p>
        </p:txBody>
      </p:sp>
      <p:sp>
        <p:nvSpPr>
          <p:cNvPr id="224" name="Google Shape;224;p31"/>
          <p:cNvSpPr/>
          <p:nvPr/>
        </p:nvSpPr>
        <p:spPr>
          <a:xfrm>
            <a:off x="5306178" y="4379990"/>
            <a:ext cx="1834800" cy="22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5925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427"/>
              <a:buFont typeface="Inter"/>
              <a:buNone/>
            </a:pPr>
            <a:r>
              <a:rPr b="1" i="0" lang="en-GB" sz="1427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Boost by History</a:t>
            </a:r>
            <a:endParaRPr b="0" i="0" sz="1427" u="none" cap="none" strike="noStrike"/>
          </a:p>
        </p:txBody>
      </p:sp>
      <p:sp>
        <p:nvSpPr>
          <p:cNvPr id="225" name="Google Shape;225;p31"/>
          <p:cNvSpPr/>
          <p:nvPr/>
        </p:nvSpPr>
        <p:spPr>
          <a:xfrm>
            <a:off x="5306178" y="4658782"/>
            <a:ext cx="3449700" cy="18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857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10"/>
              <a:buFont typeface="Inter"/>
              <a:buNone/>
            </a:pPr>
            <a:r>
              <a:rPr b="0" i="0" lang="en-GB" sz="111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align with past preferences</a:t>
            </a:r>
            <a:endParaRPr b="0" i="0" sz="1110" u="none" cap="none" strike="noStrike"/>
          </a:p>
        </p:txBody>
      </p:sp>
      <p:sp>
        <p:nvSpPr>
          <p:cNvPr id="226" name="Google Shape;226;p31"/>
          <p:cNvSpPr txBox="1"/>
          <p:nvPr>
            <p:ph type="title"/>
          </p:nvPr>
        </p:nvSpPr>
        <p:spPr>
          <a:xfrm>
            <a:off x="311700" y="195189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Ranking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2"/>
          <p:cNvSpPr txBox="1"/>
          <p:nvPr/>
        </p:nvSpPr>
        <p:spPr>
          <a:xfrm>
            <a:off x="350000" y="60000"/>
            <a:ext cx="5059200" cy="26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250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Personlization in action</a:t>
            </a:r>
            <a:endParaRPr sz="1100"/>
          </a:p>
        </p:txBody>
      </p:sp>
      <p:sp>
        <p:nvSpPr>
          <p:cNvPr id="232" name="Google Shape;232;p32"/>
          <p:cNvSpPr txBox="1"/>
          <p:nvPr/>
        </p:nvSpPr>
        <p:spPr>
          <a:xfrm>
            <a:off x="350000" y="430000"/>
            <a:ext cx="5400000" cy="20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00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NestFinder  |  same query  |  cold vs warm  |  real demo output</a:t>
            </a:r>
            <a:endParaRPr/>
          </a:p>
        </p:txBody>
      </p:sp>
      <p:sp>
        <p:nvSpPr>
          <p:cNvPr id="233" name="Google Shape;233;p32"/>
          <p:cNvSpPr/>
          <p:nvPr/>
        </p:nvSpPr>
        <p:spPr>
          <a:xfrm>
            <a:off x="6050000" y="60000"/>
            <a:ext cx="2750100" cy="480000"/>
          </a:xfrm>
          <a:prstGeom prst="roundRect">
            <a:avLst>
              <a:gd fmla="val 20000" name="adj"/>
            </a:avLst>
          </a:prstGeom>
          <a:solidFill>
            <a:srgbClr val="EEF2FA"/>
          </a:solidFill>
          <a:ln cap="flat" cmpd="sng" w="12700">
            <a:solidFill>
              <a:srgbClr val="C0CCD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2"/>
          <p:cNvSpPr txBox="1"/>
          <p:nvPr/>
        </p:nvSpPr>
        <p:spPr>
          <a:xfrm>
            <a:off x="6110000" y="80000"/>
            <a:ext cx="2630100" cy="44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0000" lIns="60000" spcFirstLastPara="1" rIns="60000" wrap="square" tIns="4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2C4A7A"/>
                </a:solidFill>
                <a:latin typeface="Courier New"/>
                <a:ea typeface="Courier New"/>
                <a:cs typeface="Courier New"/>
                <a:sym typeface="Courier New"/>
              </a:rPr>
              <a:t>“quiet apartment in Zurich,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2C4A7A"/>
                </a:solidFill>
                <a:latin typeface="Courier New"/>
                <a:ea typeface="Courier New"/>
                <a:cs typeface="Courier New"/>
                <a:sym typeface="Courier New"/>
              </a:rPr>
              <a:t>must have parking,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2C4A7A"/>
                </a:solidFill>
                <a:latin typeface="Courier New"/>
                <a:ea typeface="Courier New"/>
                <a:cs typeface="Courier New"/>
                <a:sym typeface="Courier New"/>
              </a:rPr>
              <a:t>balcony would be nice”</a:t>
            </a:r>
            <a:endParaRPr/>
          </a:p>
        </p:txBody>
      </p:sp>
      <p:sp>
        <p:nvSpPr>
          <p:cNvPr id="235" name="Google Shape;235;p32"/>
          <p:cNvSpPr/>
          <p:nvPr/>
        </p:nvSpPr>
        <p:spPr>
          <a:xfrm>
            <a:off x="4522000" y="660000"/>
            <a:ext cx="9525" cy="3285000"/>
          </a:xfrm>
          <a:prstGeom prst="rect">
            <a:avLst/>
          </a:prstGeom>
          <a:solidFill>
            <a:srgbClr val="D8E0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32"/>
          <p:cNvSpPr/>
          <p:nvPr/>
        </p:nvSpPr>
        <p:spPr>
          <a:xfrm>
            <a:off x="350000" y="670000"/>
            <a:ext cx="580000" cy="160000"/>
          </a:xfrm>
          <a:prstGeom prst="roundRect">
            <a:avLst>
              <a:gd fmla="val 50000" name="adj"/>
            </a:avLst>
          </a:prstGeom>
          <a:solidFill>
            <a:srgbClr val="E2E8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32"/>
          <p:cNvSpPr txBox="1"/>
          <p:nvPr/>
        </p:nvSpPr>
        <p:spPr>
          <a:xfrm>
            <a:off x="350000" y="670000"/>
            <a:ext cx="5799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COLD</a:t>
            </a:r>
            <a:endParaRPr/>
          </a:p>
        </p:txBody>
      </p:sp>
      <p:sp>
        <p:nvSpPr>
          <p:cNvPr id="238" name="Google Shape;238;p32"/>
          <p:cNvSpPr txBox="1"/>
          <p:nvPr/>
        </p:nvSpPr>
        <p:spPr>
          <a:xfrm>
            <a:off x="970000" y="675000"/>
            <a:ext cx="3200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No history  |  flat weights  |  generic reasons</a:t>
            </a:r>
            <a:endParaRPr/>
          </a:p>
        </p:txBody>
      </p:sp>
      <p:sp>
        <p:nvSpPr>
          <p:cNvPr id="239" name="Google Shape;239;p32"/>
          <p:cNvSpPr/>
          <p:nvPr/>
        </p:nvSpPr>
        <p:spPr>
          <a:xfrm>
            <a:off x="350000" y="848000"/>
            <a:ext cx="4050000" cy="9525"/>
          </a:xfrm>
          <a:prstGeom prst="rect">
            <a:avLst/>
          </a:prstGeom>
          <a:solidFill>
            <a:srgbClr val="D8E0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0" name="Google Shape;240;p32"/>
          <p:cNvSpPr/>
          <p:nvPr/>
        </p:nvSpPr>
        <p:spPr>
          <a:xfrm>
            <a:off x="350000" y="878000"/>
            <a:ext cx="4050000" cy="520000"/>
          </a:xfrm>
          <a:prstGeom prst="roundRect">
            <a:avLst>
              <a:gd fmla="val 12000" name="adj"/>
            </a:avLst>
          </a:prstGeom>
          <a:solidFill>
            <a:srgbClr val="F8FAFF"/>
          </a:solidFill>
          <a:ln cap="flat" cmpd="sng" w="9525">
            <a:solidFill>
              <a:srgbClr val="D8E0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2"/>
          <p:cNvSpPr txBox="1"/>
          <p:nvPr/>
        </p:nvSpPr>
        <p:spPr>
          <a:xfrm>
            <a:off x="400000" y="903000"/>
            <a:ext cx="395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#1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Studio Apt — Weinbergstrasse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1900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1.0r | Score: 2.200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quiet | balcony | weights x1.0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Matched soft filters. Flat weights, no personalization.</a:t>
            </a:r>
            <a:endParaRPr/>
          </a:p>
        </p:txBody>
      </p:sp>
      <p:sp>
        <p:nvSpPr>
          <p:cNvPr id="242" name="Google Shape;242;p32"/>
          <p:cNvSpPr/>
          <p:nvPr/>
        </p:nvSpPr>
        <p:spPr>
          <a:xfrm>
            <a:off x="350000" y="1438000"/>
            <a:ext cx="4050000" cy="520000"/>
          </a:xfrm>
          <a:prstGeom prst="roundRect">
            <a:avLst>
              <a:gd fmla="val 12000" name="adj"/>
            </a:avLst>
          </a:prstGeom>
          <a:solidFill>
            <a:srgbClr val="F8FAFF"/>
          </a:solidFill>
          <a:ln cap="flat" cmpd="sng" w="9525">
            <a:solidFill>
              <a:srgbClr val="D8E0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32"/>
          <p:cNvSpPr txBox="1"/>
          <p:nvPr/>
        </p:nvSpPr>
        <p:spPr>
          <a:xfrm>
            <a:off x="400000" y="1463000"/>
            <a:ext cx="395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3A6080"/>
                </a:solidFill>
                <a:latin typeface="Calibri"/>
                <a:ea typeface="Calibri"/>
                <a:cs typeface="Calibri"/>
                <a:sym typeface="Calibri"/>
              </a:rPr>
              <a:t>#2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Neubauwohnung in Zurich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3080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3.5r | Score: 1.660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parking | balcony | weights x1.0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Matched soft filters. No preference signal.</a:t>
            </a:r>
            <a:endParaRPr/>
          </a:p>
        </p:txBody>
      </p:sp>
      <p:sp>
        <p:nvSpPr>
          <p:cNvPr id="244" name="Google Shape;244;p32"/>
          <p:cNvSpPr/>
          <p:nvPr/>
        </p:nvSpPr>
        <p:spPr>
          <a:xfrm>
            <a:off x="350000" y="1998000"/>
            <a:ext cx="4050000" cy="520000"/>
          </a:xfrm>
          <a:prstGeom prst="roundRect">
            <a:avLst>
              <a:gd fmla="val 12000" name="adj"/>
            </a:avLst>
          </a:prstGeom>
          <a:solidFill>
            <a:srgbClr val="F8FAFF"/>
          </a:solidFill>
          <a:ln cap="flat" cmpd="sng" w="9525">
            <a:solidFill>
              <a:srgbClr val="D8E0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32"/>
          <p:cNvSpPr txBox="1"/>
          <p:nvPr/>
        </p:nvSpPr>
        <p:spPr>
          <a:xfrm>
            <a:off x="400000" y="2023000"/>
            <a:ext cx="395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805A00"/>
                </a:solidFill>
                <a:latin typeface="Calibri"/>
                <a:ea typeface="Calibri"/>
                <a:cs typeface="Calibri"/>
                <a:sym typeface="Calibri"/>
              </a:rPr>
              <a:t>#3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Modernes Wohnen im Guggachpark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3910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4.5r | Score: 1.660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parking | balcony | weights x1.0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Matched soft filters. Flat weights.</a:t>
            </a:r>
            <a:endParaRPr/>
          </a:p>
        </p:txBody>
      </p:sp>
      <p:sp>
        <p:nvSpPr>
          <p:cNvPr id="246" name="Google Shape;246;p32"/>
          <p:cNvSpPr/>
          <p:nvPr/>
        </p:nvSpPr>
        <p:spPr>
          <a:xfrm>
            <a:off x="350000" y="2558000"/>
            <a:ext cx="4050000" cy="520000"/>
          </a:xfrm>
          <a:prstGeom prst="roundRect">
            <a:avLst>
              <a:gd fmla="val 12000" name="adj"/>
            </a:avLst>
          </a:prstGeom>
          <a:solidFill>
            <a:srgbClr val="FFF5F5"/>
          </a:solidFill>
          <a:ln cap="flat" cmpd="sng" w="19050">
            <a:solidFill>
              <a:srgbClr val="E8A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32"/>
          <p:cNvSpPr txBox="1"/>
          <p:nvPr/>
        </p:nvSpPr>
        <p:spPr>
          <a:xfrm>
            <a:off x="400000" y="2583000"/>
            <a:ext cx="395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#4 v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Wohnung an ruhiger und zentraler Lage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2330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3.0r | Score: 0.400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balcony only | no elevator signal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C0504A"/>
                </a:solidFill>
                <a:latin typeface="Calibri"/>
                <a:ea typeface="Calibri"/>
                <a:cs typeface="Calibri"/>
                <a:sym typeface="Calibri"/>
              </a:rPr>
              <a:t>Will drop to #5 in warm — outranked by elevator affinity.</a:t>
            </a:r>
            <a:endParaRPr/>
          </a:p>
        </p:txBody>
      </p:sp>
      <p:sp>
        <p:nvSpPr>
          <p:cNvPr id="248" name="Google Shape;248;p32"/>
          <p:cNvSpPr/>
          <p:nvPr/>
        </p:nvSpPr>
        <p:spPr>
          <a:xfrm>
            <a:off x="350000" y="3118000"/>
            <a:ext cx="4050000" cy="520000"/>
          </a:xfrm>
          <a:prstGeom prst="roundRect">
            <a:avLst>
              <a:gd fmla="val 12000" name="adj"/>
            </a:avLst>
          </a:prstGeom>
          <a:solidFill>
            <a:srgbClr val="F2FBF2"/>
          </a:solidFill>
          <a:ln cap="flat" cmpd="sng" w="19050">
            <a:solidFill>
              <a:srgbClr val="88C88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9" name="Google Shape;249;p32"/>
          <p:cNvSpPr txBox="1"/>
          <p:nvPr/>
        </p:nvSpPr>
        <p:spPr>
          <a:xfrm>
            <a:off x="400000" y="3143000"/>
            <a:ext cx="395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#5 ^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Wohnen im Trendquartier — 3.5 Zimmer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3190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3.5r | Score: 0.400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balcony | elevator in description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Will rise to #4 in warm — elevator matches user affinity.</a:t>
            </a:r>
            <a:endParaRPr/>
          </a:p>
        </p:txBody>
      </p:sp>
      <p:sp>
        <p:nvSpPr>
          <p:cNvPr id="250" name="Google Shape;250;p32"/>
          <p:cNvSpPr/>
          <p:nvPr/>
        </p:nvSpPr>
        <p:spPr>
          <a:xfrm>
            <a:off x="4660000" y="670000"/>
            <a:ext cx="620100" cy="159900"/>
          </a:xfrm>
          <a:prstGeom prst="roundRect">
            <a:avLst>
              <a:gd fmla="val 50000" name="adj"/>
            </a:avLst>
          </a:prstGeom>
          <a:solidFill>
            <a:srgbClr val="D6F0D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32"/>
          <p:cNvSpPr txBox="1"/>
          <p:nvPr/>
        </p:nvSpPr>
        <p:spPr>
          <a:xfrm>
            <a:off x="4660000" y="670000"/>
            <a:ext cx="620100" cy="159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WARM</a:t>
            </a:r>
            <a:endParaRPr/>
          </a:p>
        </p:txBody>
      </p:sp>
      <p:sp>
        <p:nvSpPr>
          <p:cNvPr id="252" name="Google Shape;252;p32"/>
          <p:cNvSpPr txBox="1"/>
          <p:nvPr/>
        </p:nvSpPr>
        <p:spPr>
          <a:xfrm>
            <a:off x="5320000" y="675000"/>
            <a:ext cx="3380100" cy="15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85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Profile applied  |  clicks, favorites, price range</a:t>
            </a:r>
            <a:endParaRPr/>
          </a:p>
        </p:txBody>
      </p:sp>
      <p:sp>
        <p:nvSpPr>
          <p:cNvPr id="253" name="Google Shape;253;p32"/>
          <p:cNvSpPr/>
          <p:nvPr/>
        </p:nvSpPr>
        <p:spPr>
          <a:xfrm>
            <a:off x="4660000" y="848000"/>
            <a:ext cx="4140000" cy="9525"/>
          </a:xfrm>
          <a:prstGeom prst="rect">
            <a:avLst/>
          </a:prstGeom>
          <a:solidFill>
            <a:srgbClr val="D8E0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4660000" y="878000"/>
            <a:ext cx="4140000" cy="520000"/>
          </a:xfrm>
          <a:prstGeom prst="roundRect">
            <a:avLst>
              <a:gd fmla="val 12000" name="adj"/>
            </a:avLst>
          </a:prstGeom>
          <a:solidFill>
            <a:srgbClr val="F0FAF0"/>
          </a:solidFill>
          <a:ln cap="flat" cmpd="sng" w="19050">
            <a:solidFill>
              <a:srgbClr val="2E8A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32"/>
          <p:cNvSpPr txBox="1"/>
          <p:nvPr/>
        </p:nvSpPr>
        <p:spPr>
          <a:xfrm>
            <a:off x="4710000" y="903000"/>
            <a:ext cx="404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#1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Studio Apt — Weinbergstrasse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1900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1.0r | Score: 2.345 (+0.145) | clicked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quiet | balcony | preferred city | price CHF 1910-2073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Personalised: preferred city, price range, previously clicked.</a:t>
            </a:r>
            <a:endParaRPr/>
          </a:p>
        </p:txBody>
      </p:sp>
      <p:sp>
        <p:nvSpPr>
          <p:cNvPr id="256" name="Google Shape;256;p32"/>
          <p:cNvSpPr/>
          <p:nvPr/>
        </p:nvSpPr>
        <p:spPr>
          <a:xfrm>
            <a:off x="4660000" y="1438000"/>
            <a:ext cx="4140000" cy="520000"/>
          </a:xfrm>
          <a:prstGeom prst="roundRect">
            <a:avLst>
              <a:gd fmla="val 12000" name="adj"/>
            </a:avLst>
          </a:prstGeom>
          <a:solidFill>
            <a:srgbClr val="F8FAFF"/>
          </a:solidFill>
          <a:ln cap="flat" cmpd="sng" w="9525">
            <a:solidFill>
              <a:srgbClr val="D8E0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32"/>
          <p:cNvSpPr txBox="1"/>
          <p:nvPr/>
        </p:nvSpPr>
        <p:spPr>
          <a:xfrm>
            <a:off x="4710000" y="1463000"/>
            <a:ext cx="404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3A6080"/>
                </a:solidFill>
                <a:latin typeface="Calibri"/>
                <a:ea typeface="Calibri"/>
                <a:cs typeface="Calibri"/>
                <a:sym typeface="Calibri"/>
              </a:rPr>
              <a:t>#2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Neubauwohnung in Zurich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3080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3.5r | Score: 1.780 (+0.120)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parking | balcony | preferred city boost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Personalised: preferred city boost applied.</a:t>
            </a:r>
            <a:endParaRPr/>
          </a:p>
        </p:txBody>
      </p:sp>
      <p:sp>
        <p:nvSpPr>
          <p:cNvPr id="258" name="Google Shape;258;p32"/>
          <p:cNvSpPr/>
          <p:nvPr/>
        </p:nvSpPr>
        <p:spPr>
          <a:xfrm>
            <a:off x="4660000" y="1998000"/>
            <a:ext cx="4140000" cy="520000"/>
          </a:xfrm>
          <a:prstGeom prst="roundRect">
            <a:avLst>
              <a:gd fmla="val 12000" name="adj"/>
            </a:avLst>
          </a:prstGeom>
          <a:solidFill>
            <a:srgbClr val="F8FAFF"/>
          </a:solidFill>
          <a:ln cap="flat" cmpd="sng" w="9525">
            <a:solidFill>
              <a:srgbClr val="D8E0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32"/>
          <p:cNvSpPr txBox="1"/>
          <p:nvPr/>
        </p:nvSpPr>
        <p:spPr>
          <a:xfrm>
            <a:off x="4710000" y="2023000"/>
            <a:ext cx="404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805A00"/>
                </a:solidFill>
                <a:latin typeface="Calibri"/>
                <a:ea typeface="Calibri"/>
                <a:cs typeface="Calibri"/>
                <a:sym typeface="Calibri"/>
              </a:rPr>
              <a:t>#3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Modernes Wohnen im Guggachpark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3910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4.5r | Score: 1.740 (+0.080)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parking | balcony | preferred city boost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Personalised: preferred city boost applied.</a:t>
            </a:r>
            <a:endParaRPr/>
          </a:p>
        </p:txBody>
      </p:sp>
      <p:sp>
        <p:nvSpPr>
          <p:cNvPr id="260" name="Google Shape;260;p32"/>
          <p:cNvSpPr/>
          <p:nvPr/>
        </p:nvSpPr>
        <p:spPr>
          <a:xfrm>
            <a:off x="4660000" y="2558000"/>
            <a:ext cx="4140000" cy="520000"/>
          </a:xfrm>
          <a:prstGeom prst="roundRect">
            <a:avLst>
              <a:gd fmla="val 12000" name="adj"/>
            </a:avLst>
          </a:prstGeom>
          <a:solidFill>
            <a:srgbClr val="F0FAF0"/>
          </a:solidFill>
          <a:ln cap="flat" cmpd="sng" w="19050">
            <a:solidFill>
              <a:srgbClr val="2E8A2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32"/>
          <p:cNvSpPr txBox="1"/>
          <p:nvPr/>
        </p:nvSpPr>
        <p:spPr>
          <a:xfrm>
            <a:off x="4710000" y="2583000"/>
            <a:ext cx="404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#4 ^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Wohnen im Trendquartier — 3.5 Zimmer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3190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3.5r | Score: 0.520 (+0.120)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balcony | elevator match | preferred city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Rose from #5 — elevator preference in user profile matched.</a:t>
            </a:r>
            <a:endParaRPr/>
          </a:p>
        </p:txBody>
      </p:sp>
      <p:sp>
        <p:nvSpPr>
          <p:cNvPr id="262" name="Google Shape;262;p32"/>
          <p:cNvSpPr/>
          <p:nvPr/>
        </p:nvSpPr>
        <p:spPr>
          <a:xfrm>
            <a:off x="4660000" y="3118000"/>
            <a:ext cx="4140000" cy="520000"/>
          </a:xfrm>
          <a:prstGeom prst="roundRect">
            <a:avLst>
              <a:gd fmla="val 12000" name="adj"/>
            </a:avLst>
          </a:prstGeom>
          <a:solidFill>
            <a:srgbClr val="FFF5F5"/>
          </a:solidFill>
          <a:ln cap="flat" cmpd="sng" w="19050">
            <a:solidFill>
              <a:srgbClr val="E8AA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32"/>
          <p:cNvSpPr txBox="1"/>
          <p:nvPr/>
        </p:nvSpPr>
        <p:spPr>
          <a:xfrm>
            <a:off x="4710000" y="3143000"/>
            <a:ext cx="4040100" cy="470100"/>
          </a:xfrm>
          <a:prstGeom prst="rect">
            <a:avLst/>
          </a:prstGeom>
          <a:noFill/>
          <a:ln>
            <a:noFill/>
          </a:ln>
        </p:spPr>
        <p:txBody>
          <a:bodyPr anchorCtr="0" anchor="t" bIns="20000" lIns="60000" spcFirstLastPara="1" rIns="60000" wrap="square" tIns="200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850" u="none" cap="none" strike="noStrike">
                <a:solidFill>
                  <a:srgbClr val="C0504A"/>
                </a:solidFill>
                <a:latin typeface="Calibri"/>
                <a:ea typeface="Calibri"/>
                <a:cs typeface="Calibri"/>
                <a:sym typeface="Calibri"/>
              </a:rPr>
              <a:t>#5 v  </a:t>
            </a:r>
            <a:r>
              <a:rPr b="1" i="0" lang="en-GB" sz="850" u="none" cap="none" strike="noStrike">
                <a:solidFill>
                  <a:srgbClr val="1A2C4A"/>
                </a:solidFill>
                <a:latin typeface="Calibri"/>
                <a:ea typeface="Calibri"/>
                <a:cs typeface="Calibri"/>
                <a:sym typeface="Calibri"/>
              </a:rPr>
              <a:t>Wohnung an ruhiger und zentraler Lage</a:t>
            </a:r>
            <a:r>
              <a:rPr b="0" i="0" lang="en-GB" sz="820" u="none" cap="none" strike="noStrike">
                <a:solidFill>
                  <a:srgbClr val="1E5FA5"/>
                </a:solidFill>
                <a:latin typeface="Calibri"/>
                <a:ea typeface="Calibri"/>
                <a:cs typeface="Calibri"/>
                <a:sym typeface="Calibri"/>
              </a:rPr>
              <a:t>   CHF 2330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8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Zurich | 3.0r | Score: 0.480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76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balcony | preferred city | no elevator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GB" sz="740" u="none" cap="none" strike="noStrike">
                <a:solidFill>
                  <a:srgbClr val="C0504A"/>
                </a:solidFill>
                <a:latin typeface="Calibri"/>
                <a:ea typeface="Calibri"/>
                <a:cs typeface="Calibri"/>
                <a:sym typeface="Calibri"/>
              </a:rPr>
              <a:t>Dropped from #4 — no elevator signal, outranked by Trendquartier.</a:t>
            </a:r>
            <a:endParaRPr/>
          </a:p>
        </p:txBody>
      </p:sp>
      <p:sp>
        <p:nvSpPr>
          <p:cNvPr id="264" name="Google Shape;264;p32"/>
          <p:cNvSpPr/>
          <p:nvPr/>
        </p:nvSpPr>
        <p:spPr>
          <a:xfrm>
            <a:off x="350000" y="3728000"/>
            <a:ext cx="4050000" cy="1305500"/>
          </a:xfrm>
          <a:prstGeom prst="roundRect">
            <a:avLst>
              <a:gd fmla="val 8000" name="adj"/>
            </a:avLst>
          </a:prstGeom>
          <a:solidFill>
            <a:srgbClr val="F2F5FB"/>
          </a:solidFill>
          <a:ln cap="flat" cmpd="sng" w="9525">
            <a:solidFill>
              <a:srgbClr val="D0DA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32"/>
          <p:cNvSpPr txBox="1"/>
          <p:nvPr/>
        </p:nvSpPr>
        <p:spPr>
          <a:xfrm>
            <a:off x="430000" y="3778000"/>
            <a:ext cx="3890100" cy="12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RANKING DELTA — COLD TO WARM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#1  </a:t>
            </a:r>
            <a:r>
              <a:rPr b="0" i="0" lang="en-GB" sz="900" u="none" cap="none" strike="noStrike">
                <a:solidFill>
                  <a:srgbClr val="3A4A6A"/>
                </a:solidFill>
                <a:latin typeface="Calibri"/>
                <a:ea typeface="Calibri"/>
                <a:cs typeface="Calibri"/>
                <a:sym typeface="Calibri"/>
              </a:rPr>
              <a:t>Studio — Weinbergstrasse</a:t>
            </a:r>
            <a:r>
              <a:rPr b="0" i="0" lang="en-GB" sz="82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   was #1  |  score +0.145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#2  </a:t>
            </a:r>
            <a:r>
              <a:rPr b="0" i="0" lang="en-GB" sz="900" u="none" cap="none" strike="noStrike">
                <a:solidFill>
                  <a:srgbClr val="3A4A6A"/>
                </a:solidFill>
                <a:latin typeface="Calibri"/>
                <a:ea typeface="Calibri"/>
                <a:cs typeface="Calibri"/>
                <a:sym typeface="Calibri"/>
              </a:rPr>
              <a:t>Neubauwohnung Zurich</a:t>
            </a:r>
            <a:r>
              <a:rPr b="0" i="0" lang="en-GB" sz="82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   was #2  |  score +0.120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#3  </a:t>
            </a:r>
            <a:r>
              <a:rPr b="0" i="0" lang="en-GB" sz="900" u="none" cap="none" strike="noStrike">
                <a:solidFill>
                  <a:srgbClr val="3A4A6A"/>
                </a:solidFill>
                <a:latin typeface="Calibri"/>
                <a:ea typeface="Calibri"/>
                <a:cs typeface="Calibri"/>
                <a:sym typeface="Calibri"/>
              </a:rPr>
              <a:t>Modernes Wohnen Guggachpark</a:t>
            </a:r>
            <a:r>
              <a:rPr b="0" i="0" lang="en-GB" sz="820" u="none" cap="none" strike="noStrike">
                <a:solidFill>
                  <a:srgbClr val="9AAAC0"/>
                </a:solidFill>
                <a:latin typeface="Calibri"/>
                <a:ea typeface="Calibri"/>
                <a:cs typeface="Calibri"/>
                <a:sym typeface="Calibri"/>
              </a:rPr>
              <a:t>   was #3  |  score +0.080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#4 ▲  </a:t>
            </a:r>
            <a:r>
              <a:rPr b="0" i="0" lang="en-GB" sz="900" u="none" cap="none" strike="noStrike">
                <a:solidFill>
                  <a:srgbClr val="3A4A6A"/>
                </a:solidFill>
                <a:latin typeface="Calibri"/>
                <a:ea typeface="Calibri"/>
                <a:cs typeface="Calibri"/>
                <a:sym typeface="Calibri"/>
              </a:rPr>
              <a:t>Trendquartier</a:t>
            </a:r>
            <a:r>
              <a:rPr b="0" i="0" lang="en-GB" sz="82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   was #5  |  elevator boost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00" u="none" cap="none" strike="noStrike">
                <a:solidFill>
                  <a:srgbClr val="C0504A"/>
                </a:solidFill>
                <a:latin typeface="Calibri"/>
                <a:ea typeface="Calibri"/>
                <a:cs typeface="Calibri"/>
                <a:sym typeface="Calibri"/>
              </a:rPr>
              <a:t>#5 ▼  </a:t>
            </a:r>
            <a:r>
              <a:rPr b="0" i="0" lang="en-GB" sz="900" u="none" cap="none" strike="noStrike">
                <a:solidFill>
                  <a:srgbClr val="3A4A6A"/>
                </a:solidFill>
                <a:latin typeface="Calibri"/>
                <a:ea typeface="Calibri"/>
                <a:cs typeface="Calibri"/>
                <a:sym typeface="Calibri"/>
              </a:rPr>
              <a:t>Wohnung ruhiger Lage</a:t>
            </a:r>
            <a:r>
              <a:rPr b="0" i="0" lang="en-GB" sz="820" u="none" cap="none" strike="noStrike">
                <a:solidFill>
                  <a:srgbClr val="C0504A"/>
                </a:solidFill>
                <a:latin typeface="Calibri"/>
                <a:ea typeface="Calibri"/>
                <a:cs typeface="Calibri"/>
                <a:sym typeface="Calibri"/>
              </a:rPr>
              <a:t>   was #4  |  no elevator</a:t>
            </a:r>
            <a:endParaRPr/>
          </a:p>
        </p:txBody>
      </p:sp>
      <p:sp>
        <p:nvSpPr>
          <p:cNvPr id="266" name="Google Shape;266;p32"/>
          <p:cNvSpPr/>
          <p:nvPr/>
        </p:nvSpPr>
        <p:spPr>
          <a:xfrm>
            <a:off x="4660000" y="3728000"/>
            <a:ext cx="4140000" cy="1305500"/>
          </a:xfrm>
          <a:prstGeom prst="roundRect">
            <a:avLst>
              <a:gd fmla="val 8000" name="adj"/>
            </a:avLst>
          </a:prstGeom>
          <a:solidFill>
            <a:srgbClr val="F2F5FB"/>
          </a:solidFill>
          <a:ln cap="flat" cmpd="sng" w="9525">
            <a:solidFill>
              <a:srgbClr val="D0DA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740000" y="3778000"/>
            <a:ext cx="3980100" cy="120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950" u="none" cap="none" strike="noStrike">
                <a:solidFill>
                  <a:srgbClr val="5A6A8A"/>
                </a:solidFill>
                <a:latin typeface="Calibri"/>
                <a:ea typeface="Calibri"/>
                <a:cs typeface="Calibri"/>
                <a:sym typeface="Calibri"/>
              </a:rPr>
              <a:t>USER PROFILE APPLIED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Preferred city:  </a:t>
            </a:r>
            <a:r>
              <a:rPr b="1" i="0" lang="en-GB" sz="95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Zurich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Price range:  </a:t>
            </a:r>
            <a:r>
              <a:rPr b="1" i="0" lang="en-GB" sz="95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CHF 1910-2073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Feature affinity:  </a:t>
            </a:r>
            <a:r>
              <a:rPr b="1" i="0" lang="en-GB" sz="95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elevator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Clicked:  </a:t>
            </a:r>
            <a:r>
              <a:rPr b="1" i="0" lang="en-GB" sz="950" u="none" cap="none" strike="noStrike">
                <a:solidFill>
                  <a:srgbClr val="1E3A6E"/>
                </a:solidFill>
                <a:latin typeface="Calibri"/>
                <a:ea typeface="Calibri"/>
                <a:cs typeface="Calibri"/>
                <a:sym typeface="Calibri"/>
              </a:rPr>
              <a:t>listings 58963, 2671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Favorited:  </a:t>
            </a:r>
            <a:r>
              <a:rPr b="1" i="0" lang="en-GB" sz="95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listing 2671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950" u="none" cap="none" strike="noStrike">
                <a:solidFill>
                  <a:srgbClr val="7A8EAA"/>
                </a:solidFill>
                <a:latin typeface="Calibri"/>
                <a:ea typeface="Calibri"/>
                <a:cs typeface="Calibri"/>
                <a:sym typeface="Calibri"/>
              </a:rPr>
              <a:t>Built from:  </a:t>
            </a:r>
            <a:r>
              <a:rPr b="1" i="0" lang="en-GB" sz="950" u="none" cap="none" strike="noStrike">
                <a:solidFill>
                  <a:srgbClr val="2E7A2E"/>
                </a:solidFill>
                <a:latin typeface="Calibri"/>
                <a:ea typeface="Calibri"/>
                <a:cs typeface="Calibri"/>
                <a:sym typeface="Calibri"/>
              </a:rPr>
              <a:t>0 explicit inputs  |  behavior only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3"/>
          <p:cNvSpPr txBox="1"/>
          <p:nvPr>
            <p:ph type="title"/>
          </p:nvPr>
        </p:nvSpPr>
        <p:spPr>
          <a:xfrm>
            <a:off x="311700" y="250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Same query. Better ranking with personalization.</a:t>
            </a:r>
            <a:endParaRPr/>
          </a:p>
        </p:txBody>
      </p:sp>
      <p:sp>
        <p:nvSpPr>
          <p:cNvPr id="273" name="Google Shape;273;p33"/>
          <p:cNvSpPr/>
          <p:nvPr/>
        </p:nvSpPr>
        <p:spPr>
          <a:xfrm>
            <a:off x="1333341" y="1152475"/>
            <a:ext cx="64878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quiet apartment in Zurich, must have parking, balcony would be nice</a:t>
            </a:r>
            <a:endParaRPr b="0" i="0" sz="872" u="none" cap="none" strike="noStrike"/>
          </a:p>
        </p:txBody>
      </p:sp>
      <p:sp>
        <p:nvSpPr>
          <p:cNvPr id="274" name="Google Shape;274;p33"/>
          <p:cNvSpPr/>
          <p:nvPr/>
        </p:nvSpPr>
        <p:spPr>
          <a:xfrm>
            <a:off x="1333341" y="1422571"/>
            <a:ext cx="6487800" cy="8700"/>
          </a:xfrm>
          <a:prstGeom prst="rect">
            <a:avLst/>
          </a:prstGeom>
          <a:solidFill>
            <a:srgbClr val="272525">
              <a:alpha val="50199"/>
            </a:srgbClr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33"/>
          <p:cNvSpPr/>
          <p:nvPr/>
        </p:nvSpPr>
        <p:spPr>
          <a:xfrm>
            <a:off x="1333341" y="1635423"/>
            <a:ext cx="3104700" cy="643800"/>
          </a:xfrm>
          <a:prstGeom prst="roundRect">
            <a:avLst>
              <a:gd fmla="val 7427" name="adj"/>
            </a:avLst>
          </a:prstGeom>
          <a:solidFill>
            <a:srgbClr val="D9D9D9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76" name="Google Shape;276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47111" y="1755501"/>
            <a:ext cx="177801" cy="142272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3"/>
          <p:cNvSpPr/>
          <p:nvPr/>
        </p:nvSpPr>
        <p:spPr>
          <a:xfrm>
            <a:off x="1738682" y="1742087"/>
            <a:ext cx="14226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6"/>
              <a:buFont typeface="Inter"/>
              <a:buNone/>
            </a:pPr>
            <a:r>
              <a:rPr b="1" i="0" lang="en-GB" sz="1106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COLD SEARCH</a:t>
            </a:r>
            <a:endParaRPr b="0" i="0" sz="1106" u="none" cap="none" strike="noStrike"/>
          </a:p>
        </p:txBody>
      </p:sp>
      <p:sp>
        <p:nvSpPr>
          <p:cNvPr id="278" name="Google Shape;278;p33"/>
          <p:cNvSpPr/>
          <p:nvPr/>
        </p:nvSpPr>
        <p:spPr>
          <a:xfrm>
            <a:off x="1738682" y="1998132"/>
            <a:ext cx="25860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No user context</a:t>
            </a:r>
            <a:endParaRPr b="0" i="0" sz="872" u="none" cap="none" strike="noStrike"/>
          </a:p>
        </p:txBody>
      </p:sp>
      <p:sp>
        <p:nvSpPr>
          <p:cNvPr id="279" name="Google Shape;279;p33"/>
          <p:cNvSpPr/>
          <p:nvPr/>
        </p:nvSpPr>
        <p:spPr>
          <a:xfrm>
            <a:off x="1333341" y="2423915"/>
            <a:ext cx="15036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950"/>
              <a:buFont typeface="Inter"/>
              <a:buNone/>
            </a:pPr>
            <a:r>
              <a:rPr b="1" i="0" lang="en-GB" sz="29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2.20</a:t>
            </a:r>
            <a:endParaRPr b="0" i="0" sz="2950" u="none" cap="none" strike="noStrike"/>
          </a:p>
        </p:txBody>
      </p:sp>
      <p:sp>
        <p:nvSpPr>
          <p:cNvPr id="280" name="Google Shape;280;p33"/>
          <p:cNvSpPr/>
          <p:nvPr/>
        </p:nvSpPr>
        <p:spPr>
          <a:xfrm>
            <a:off x="1373739" y="2915006"/>
            <a:ext cx="14226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06"/>
              <a:buFont typeface="Inter"/>
              <a:buNone/>
            </a:pPr>
            <a:r>
              <a:rPr b="1" i="0" lang="en-GB" sz="1106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Top score</a:t>
            </a:r>
            <a:endParaRPr b="0" i="0" sz="1106" u="none" cap="none" strike="noStrike"/>
          </a:p>
        </p:txBody>
      </p:sp>
      <p:sp>
        <p:nvSpPr>
          <p:cNvPr id="281" name="Google Shape;281;p33"/>
          <p:cNvSpPr/>
          <p:nvPr/>
        </p:nvSpPr>
        <p:spPr>
          <a:xfrm>
            <a:off x="1333341" y="3171050"/>
            <a:ext cx="15036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#1 Studio Apartment · Zürich</a:t>
            </a:r>
            <a:endParaRPr b="0" i="0" sz="872" u="none" cap="none" strike="noStrike"/>
          </a:p>
        </p:txBody>
      </p:sp>
      <p:sp>
        <p:nvSpPr>
          <p:cNvPr id="282" name="Google Shape;282;p33"/>
          <p:cNvSpPr/>
          <p:nvPr/>
        </p:nvSpPr>
        <p:spPr>
          <a:xfrm>
            <a:off x="2934665" y="2423915"/>
            <a:ext cx="15036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950"/>
              <a:buFont typeface="Inter"/>
              <a:buNone/>
            </a:pPr>
            <a:r>
              <a:rPr b="1" i="0" lang="en-GB" sz="29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1.66</a:t>
            </a:r>
            <a:endParaRPr b="0" i="0" sz="2950" u="none" cap="none" strike="noStrike"/>
          </a:p>
        </p:txBody>
      </p:sp>
      <p:sp>
        <p:nvSpPr>
          <p:cNvPr id="283" name="Google Shape;283;p33"/>
          <p:cNvSpPr/>
          <p:nvPr/>
        </p:nvSpPr>
        <p:spPr>
          <a:xfrm>
            <a:off x="2975064" y="2915006"/>
            <a:ext cx="14226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06"/>
              <a:buFont typeface="Inter"/>
              <a:buNone/>
            </a:pPr>
            <a:r>
              <a:rPr b="1" i="0" lang="en-GB" sz="1106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Runner-up</a:t>
            </a:r>
            <a:endParaRPr b="0" i="0" sz="1106" u="none" cap="none" strike="noStrike"/>
          </a:p>
        </p:txBody>
      </p:sp>
      <p:sp>
        <p:nvSpPr>
          <p:cNvPr id="284" name="Google Shape;284;p33"/>
          <p:cNvSpPr/>
          <p:nvPr/>
        </p:nvSpPr>
        <p:spPr>
          <a:xfrm>
            <a:off x="2934665" y="3171050"/>
            <a:ext cx="15036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#2 Neubauwohnung</a:t>
            </a:r>
            <a:endParaRPr b="0" i="0" sz="872" u="none" cap="none" strike="noStrike"/>
          </a:p>
        </p:txBody>
      </p:sp>
      <p:sp>
        <p:nvSpPr>
          <p:cNvPr id="285" name="Google Shape;285;p33"/>
          <p:cNvSpPr/>
          <p:nvPr/>
        </p:nvSpPr>
        <p:spPr>
          <a:xfrm>
            <a:off x="1333341" y="3566414"/>
            <a:ext cx="3104700" cy="667800"/>
          </a:xfrm>
          <a:prstGeom prst="roundRect">
            <a:avLst>
              <a:gd fmla="val 11016" name="adj"/>
            </a:avLst>
          </a:prstGeom>
          <a:solidFill>
            <a:srgbClr val="FFFFFF"/>
          </a:solidFill>
          <a:ln cap="flat" cmpd="sng" w="15300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p33"/>
          <p:cNvSpPr/>
          <p:nvPr/>
        </p:nvSpPr>
        <p:spPr>
          <a:xfrm>
            <a:off x="1318012" y="3566414"/>
            <a:ext cx="61500" cy="667800"/>
          </a:xfrm>
          <a:prstGeom prst="roundRect">
            <a:avLst>
              <a:gd fmla="val 77962" name="adj"/>
            </a:avLst>
          </a:prstGeom>
          <a:solidFill>
            <a:srgbClr val="4950BC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33"/>
          <p:cNvSpPr/>
          <p:nvPr/>
        </p:nvSpPr>
        <p:spPr>
          <a:xfrm>
            <a:off x="1508427" y="3695514"/>
            <a:ext cx="14226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06"/>
              <a:buFont typeface="Inter"/>
              <a:buNone/>
            </a:pPr>
            <a:r>
              <a:rPr b="1" i="0" lang="en-GB" sz="1106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Top result</a:t>
            </a:r>
            <a:endParaRPr b="0" i="0" sz="1106" u="none" cap="none" strike="noStrike"/>
          </a:p>
        </p:txBody>
      </p:sp>
      <p:sp>
        <p:nvSpPr>
          <p:cNvPr id="288" name="Google Shape;288;p33"/>
          <p:cNvSpPr/>
          <p:nvPr/>
        </p:nvSpPr>
        <p:spPr>
          <a:xfrm>
            <a:off x="1508427" y="3951558"/>
            <a:ext cx="28008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quiet • balcony</a:t>
            </a:r>
            <a:endParaRPr b="0" i="0" sz="872" u="none" cap="none" strike="noStrike"/>
          </a:p>
        </p:txBody>
      </p:sp>
      <p:sp>
        <p:nvSpPr>
          <p:cNvPr id="289" name="Google Shape;289;p33"/>
          <p:cNvSpPr/>
          <p:nvPr/>
        </p:nvSpPr>
        <p:spPr>
          <a:xfrm>
            <a:off x="4721056" y="1635423"/>
            <a:ext cx="3104700" cy="643800"/>
          </a:xfrm>
          <a:prstGeom prst="roundRect">
            <a:avLst>
              <a:gd fmla="val 7427" name="adj"/>
            </a:avLst>
          </a:prstGeom>
          <a:solidFill>
            <a:srgbClr val="B6D6FC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90" name="Google Shape;29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834826" y="1755501"/>
            <a:ext cx="177801" cy="142272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33"/>
          <p:cNvSpPr/>
          <p:nvPr/>
        </p:nvSpPr>
        <p:spPr>
          <a:xfrm>
            <a:off x="5126397" y="1742087"/>
            <a:ext cx="14226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6"/>
              <a:buFont typeface="Inter"/>
              <a:buNone/>
            </a:pPr>
            <a:r>
              <a:rPr b="1" i="0" lang="en-GB" sz="1106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WARM SEARCH</a:t>
            </a:r>
            <a:endParaRPr b="0" i="0" sz="1106" u="none" cap="none" strike="noStrike"/>
          </a:p>
        </p:txBody>
      </p:sp>
      <p:sp>
        <p:nvSpPr>
          <p:cNvPr id="292" name="Google Shape;292;p33"/>
          <p:cNvSpPr/>
          <p:nvPr/>
        </p:nvSpPr>
        <p:spPr>
          <a:xfrm>
            <a:off x="5126397" y="1998132"/>
            <a:ext cx="25860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Profile-aware ranking</a:t>
            </a:r>
            <a:endParaRPr b="0" i="0" sz="872" u="none" cap="none" strike="noStrike"/>
          </a:p>
        </p:txBody>
      </p:sp>
      <p:sp>
        <p:nvSpPr>
          <p:cNvPr id="293" name="Google Shape;293;p33"/>
          <p:cNvSpPr/>
          <p:nvPr/>
        </p:nvSpPr>
        <p:spPr>
          <a:xfrm>
            <a:off x="4721056" y="2423915"/>
            <a:ext cx="15036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950"/>
              <a:buFont typeface="Inter"/>
              <a:buNone/>
            </a:pPr>
            <a:r>
              <a:rPr b="1" i="0" lang="en-GB" sz="29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2.35</a:t>
            </a:r>
            <a:endParaRPr b="0" i="0" sz="2950" u="none" cap="none" strike="noStrike"/>
          </a:p>
        </p:txBody>
      </p:sp>
      <p:sp>
        <p:nvSpPr>
          <p:cNvPr id="294" name="Google Shape;294;p33"/>
          <p:cNvSpPr/>
          <p:nvPr/>
        </p:nvSpPr>
        <p:spPr>
          <a:xfrm>
            <a:off x="4761454" y="2915006"/>
            <a:ext cx="14226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06"/>
              <a:buFont typeface="Inter"/>
              <a:buNone/>
            </a:pPr>
            <a:r>
              <a:rPr b="1" i="0" lang="en-GB" sz="1106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Top score</a:t>
            </a:r>
            <a:endParaRPr b="0" i="0" sz="1106" u="none" cap="none" strike="noStrike"/>
          </a:p>
        </p:txBody>
      </p:sp>
      <p:sp>
        <p:nvSpPr>
          <p:cNvPr id="295" name="Google Shape;295;p33"/>
          <p:cNvSpPr/>
          <p:nvPr/>
        </p:nvSpPr>
        <p:spPr>
          <a:xfrm>
            <a:off x="4721056" y="3171050"/>
            <a:ext cx="15036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#1 Studio Apartment · Zürich</a:t>
            </a:r>
            <a:endParaRPr b="0" i="0" sz="872" u="none" cap="none" strike="noStrike"/>
          </a:p>
        </p:txBody>
      </p:sp>
      <p:sp>
        <p:nvSpPr>
          <p:cNvPr id="296" name="Google Shape;296;p33"/>
          <p:cNvSpPr/>
          <p:nvPr/>
        </p:nvSpPr>
        <p:spPr>
          <a:xfrm>
            <a:off x="6322381" y="2423915"/>
            <a:ext cx="1503600" cy="37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2950"/>
              <a:buFont typeface="Inter"/>
              <a:buNone/>
            </a:pPr>
            <a:r>
              <a:rPr b="1" i="0" lang="en-GB" sz="2950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1.78</a:t>
            </a:r>
            <a:endParaRPr b="0" i="0" sz="2950" u="none" cap="none" strike="noStrike"/>
          </a:p>
        </p:txBody>
      </p:sp>
      <p:sp>
        <p:nvSpPr>
          <p:cNvPr id="297" name="Google Shape;297;p33"/>
          <p:cNvSpPr/>
          <p:nvPr/>
        </p:nvSpPr>
        <p:spPr>
          <a:xfrm>
            <a:off x="6362779" y="2915006"/>
            <a:ext cx="14226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06"/>
              <a:buFont typeface="Inter"/>
              <a:buNone/>
            </a:pPr>
            <a:r>
              <a:rPr b="1" i="0" lang="en-GB" sz="1106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Runner-up</a:t>
            </a:r>
            <a:endParaRPr b="0" i="0" sz="1106" u="none" cap="none" strike="noStrike"/>
          </a:p>
        </p:txBody>
      </p:sp>
      <p:sp>
        <p:nvSpPr>
          <p:cNvPr id="298" name="Google Shape;298;p33"/>
          <p:cNvSpPr/>
          <p:nvPr/>
        </p:nvSpPr>
        <p:spPr>
          <a:xfrm>
            <a:off x="6322381" y="3171050"/>
            <a:ext cx="15036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#2 Neubauwohnung</a:t>
            </a:r>
            <a:endParaRPr b="0" i="0" sz="872" u="none" cap="none" strike="noStrike"/>
          </a:p>
        </p:txBody>
      </p:sp>
      <p:sp>
        <p:nvSpPr>
          <p:cNvPr id="299" name="Google Shape;299;p33"/>
          <p:cNvSpPr/>
          <p:nvPr/>
        </p:nvSpPr>
        <p:spPr>
          <a:xfrm>
            <a:off x="4721056" y="3566414"/>
            <a:ext cx="3104700" cy="667800"/>
          </a:xfrm>
          <a:prstGeom prst="roundRect">
            <a:avLst>
              <a:gd fmla="val 11016" name="adj"/>
            </a:avLst>
          </a:prstGeom>
          <a:solidFill>
            <a:srgbClr val="FFFFFF"/>
          </a:solidFill>
          <a:ln cap="flat" cmpd="sng" w="15300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33"/>
          <p:cNvSpPr/>
          <p:nvPr/>
        </p:nvSpPr>
        <p:spPr>
          <a:xfrm>
            <a:off x="4705727" y="3566414"/>
            <a:ext cx="61500" cy="667800"/>
          </a:xfrm>
          <a:prstGeom prst="roundRect">
            <a:avLst>
              <a:gd fmla="val 77962" name="adj"/>
            </a:avLst>
          </a:prstGeom>
          <a:solidFill>
            <a:srgbClr val="4950BC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33"/>
          <p:cNvSpPr/>
          <p:nvPr/>
        </p:nvSpPr>
        <p:spPr>
          <a:xfrm>
            <a:off x="4896143" y="3695514"/>
            <a:ext cx="1422600" cy="177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24242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1106"/>
              <a:buFont typeface="Inter"/>
              <a:buNone/>
            </a:pPr>
            <a:r>
              <a:rPr b="1" i="0" lang="en-GB" sz="1106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Top result</a:t>
            </a:r>
            <a:endParaRPr b="0" i="0" sz="1106" u="none" cap="none" strike="noStrike"/>
          </a:p>
        </p:txBody>
      </p:sp>
      <p:sp>
        <p:nvSpPr>
          <p:cNvPr id="302" name="Google Shape;302;p33"/>
          <p:cNvSpPr/>
          <p:nvPr/>
        </p:nvSpPr>
        <p:spPr>
          <a:xfrm>
            <a:off x="4896143" y="3951558"/>
            <a:ext cx="2800800" cy="15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quiet • balcony • parking fit</a:t>
            </a:r>
            <a:endParaRPr b="0" i="0" sz="872" u="none" cap="none" strike="noStrike"/>
          </a:p>
        </p:txBody>
      </p:sp>
      <p:sp>
        <p:nvSpPr>
          <p:cNvPr id="303" name="Google Shape;303;p33"/>
          <p:cNvSpPr/>
          <p:nvPr/>
        </p:nvSpPr>
        <p:spPr>
          <a:xfrm>
            <a:off x="1333341" y="4410315"/>
            <a:ext cx="6487800" cy="545100"/>
          </a:xfrm>
          <a:prstGeom prst="roundRect">
            <a:avLst>
              <a:gd fmla="val 8769" name="adj"/>
            </a:avLst>
          </a:prstGeom>
          <a:solidFill>
            <a:srgbClr val="DADBF1"/>
          </a:solidFill>
          <a:ln cap="flat" cmpd="sng" w="6400">
            <a:solidFill>
              <a:srgbClr val="C0C1D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33"/>
          <p:cNvSpPr/>
          <p:nvPr/>
        </p:nvSpPr>
        <p:spPr>
          <a:xfrm>
            <a:off x="1338451" y="4415424"/>
            <a:ext cx="2159100" cy="534900"/>
          </a:xfrm>
          <a:prstGeom prst="roundRect">
            <a:avLst>
              <a:gd fmla="val 8937" name="adj"/>
            </a:avLst>
          </a:prstGeom>
          <a:solidFill>
            <a:srgbClr val="DADBF1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33"/>
          <p:cNvSpPr/>
          <p:nvPr/>
        </p:nvSpPr>
        <p:spPr>
          <a:xfrm>
            <a:off x="1452221" y="4529195"/>
            <a:ext cx="19317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1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Zürich preference</a:t>
            </a: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· Budget CHF 1910–2073</a:t>
            </a:r>
            <a:endParaRPr b="0" i="0" sz="872" u="none" cap="none" strike="noStrike"/>
          </a:p>
        </p:txBody>
      </p:sp>
      <p:sp>
        <p:nvSpPr>
          <p:cNvPr id="306" name="Google Shape;306;p33"/>
          <p:cNvSpPr/>
          <p:nvPr/>
        </p:nvSpPr>
        <p:spPr>
          <a:xfrm>
            <a:off x="3497528" y="4415424"/>
            <a:ext cx="2159100" cy="534900"/>
          </a:xfrm>
          <a:prstGeom prst="rect">
            <a:avLst/>
          </a:prstGeom>
          <a:solidFill>
            <a:srgbClr val="DADBF1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33"/>
          <p:cNvSpPr/>
          <p:nvPr/>
        </p:nvSpPr>
        <p:spPr>
          <a:xfrm>
            <a:off x="3497528" y="4415424"/>
            <a:ext cx="15300" cy="534900"/>
          </a:xfrm>
          <a:prstGeom prst="roundRect">
            <a:avLst>
              <a:gd fmla="val 311850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3"/>
          <p:cNvSpPr/>
          <p:nvPr/>
        </p:nvSpPr>
        <p:spPr>
          <a:xfrm>
            <a:off x="3611298" y="4529195"/>
            <a:ext cx="19317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1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Likes elevator</a:t>
            </a: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· Click/favorite history</a:t>
            </a:r>
            <a:endParaRPr b="0" i="0" sz="872" u="none" cap="none" strike="noStrike"/>
          </a:p>
        </p:txBody>
      </p:sp>
      <p:sp>
        <p:nvSpPr>
          <p:cNvPr id="309" name="Google Shape;309;p33"/>
          <p:cNvSpPr/>
          <p:nvPr/>
        </p:nvSpPr>
        <p:spPr>
          <a:xfrm>
            <a:off x="5656686" y="4415424"/>
            <a:ext cx="2159100" cy="534900"/>
          </a:xfrm>
          <a:prstGeom prst="rect">
            <a:avLst/>
          </a:prstGeom>
          <a:solidFill>
            <a:srgbClr val="DADBF1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33"/>
          <p:cNvSpPr/>
          <p:nvPr/>
        </p:nvSpPr>
        <p:spPr>
          <a:xfrm>
            <a:off x="5656686" y="4415424"/>
            <a:ext cx="15300" cy="534900"/>
          </a:xfrm>
          <a:prstGeom prst="roundRect">
            <a:avLst>
              <a:gd fmla="val 311850" name="adj"/>
            </a:avLst>
          </a:prstGeom>
          <a:solidFill>
            <a:srgbClr val="C0C1D7"/>
          </a:solidFill>
          <a:ln>
            <a:noFill/>
          </a:ln>
        </p:spPr>
        <p:txBody>
          <a:bodyPr anchorCtr="0" anchor="ctr" bIns="61300" lIns="61300" spcFirstLastPara="1" rIns="61300" wrap="square" tIns="613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33"/>
          <p:cNvSpPr/>
          <p:nvPr/>
        </p:nvSpPr>
        <p:spPr>
          <a:xfrm>
            <a:off x="5770456" y="4529195"/>
            <a:ext cx="1931700" cy="30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8461"/>
              </a:lnSpc>
              <a:spcBef>
                <a:spcPts val="0"/>
              </a:spcBef>
              <a:spcAft>
                <a:spcPts val="0"/>
              </a:spcAft>
              <a:buClr>
                <a:srgbClr val="272525"/>
              </a:buClr>
              <a:buSzPts val="872"/>
              <a:buFont typeface="Inter"/>
              <a:buNone/>
            </a:pPr>
            <a:r>
              <a:rPr b="1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Insight</a:t>
            </a:r>
            <a:r>
              <a:rPr b="0" i="0" lang="en-GB" sz="872" u="none" cap="none" strike="noStrike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 · Personalization resolves close matches using learned intent.</a:t>
            </a:r>
            <a:endParaRPr b="0" i="0" sz="872" u="none" cap="none" strike="noStrike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34"/>
          <p:cNvSpPr txBox="1"/>
          <p:nvPr>
            <p:ph type="title"/>
          </p:nvPr>
        </p:nvSpPr>
        <p:spPr>
          <a:xfrm>
            <a:off x="3172975" y="1782625"/>
            <a:ext cx="3083400" cy="87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900"/>
              <a:t>Thanks!</a:t>
            </a:r>
            <a:endParaRPr sz="3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